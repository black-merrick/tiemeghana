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 still. Do not touch the laptop yet.
Good morning. We are team [name]. Our project is called Tie Me Ghana.
Think of a deaf patient who walks into a hospital in Ghana today. The doctor speaks. She cannot hear him. So he writes it down. But many deaf people in Ghana did not finish school, so she cannot read it either.
Then the hospital looks for a sign language helper. There are very few. Most days there is none.
Tie Me Ghana lets those two people talk. Today. With the phone already in their hand.
Then say: Let me take you through one visit, from the door to the pharmacy.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doors, and all of them are shut.
Point at each one as you say it. Do not rush — this is the slide that makes the judges care.
Finish on the last line: both of them leave hoping. Then pause, and go to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two modes plainly. The point to land: we did not make the poorer patient use a worse app.
The three numbers on the right are the ones to quote if asked. 108 clips, 13.2 MB for the whole library so a phone can hold it, and nothing about the consultation stored on our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instructions ask for. Say it in one line:
Everything on this slide works in the build we are about to show you. The next slide is what does not.
Do not read all eight. Read three, then move on. The list is here so a judge can see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apologise for this slide. Deliver it as a strength.
Say: we were asked to separate what works from what is planned, so here it is in full.
If you only say one thing, say the body-part grid: we hide it on purpose, because a patient offered three body parts when the pain is in a fourth will tap the nearest one, and that wrong answer looks exactly like a right one. That single decision tells them how we think about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you, not for them. Leave it up for five seconds while you move to the laptop.
Type the filmed questions word for word: 'Do you have fever?' plays one clip, 'Do you have a fever?' refuses. For the refusal screen use 'Your pain is not serious.'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right down here. This is the slide that separates a health tool from a demo.
Say: this is the part we are most proud of, and it is the part that does nothing.
Then the line that lands: we would rather show nothing than show half of a sentence. Pause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and A slide. Turn to it if a judge asks how the patient answers back.
The strongest single fact: the doctor's device speaks her typed reply out loud, so he can keep looking at his patient instead of at a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and A slide, and the one to turn to if asked whether Deaf people were involved.
Answer: the clips are signed by Deaf signers and a reviewer approves every clip before it can reach a patient. The app will not play a clip nobody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whether this is a real deployment: it is. The site is hosted, the database is hosted, the clips come from cloud storage. What you are watching is not running on this laptop.
If asked what is weakest technically: say TURN, before they say it. Some hospital networks will not allow two devices to connect directly, and the honest answer is that we fall back to one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criteria on one slide, ten points each.
The line that lands for local fit: a hospital does not need new machines for this. It needs the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about money: a hospital pays far more for one interpreter than for this. A small yearly fee per hospital, with the clip library shared across all of them.
The amber box on the right is deliberate. Saying what has to happen before a real ward uses it is what makes the rest of the slide believable.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address out loud, letter by letter if you must, and leave this slide up while they type it.
If asked whether the code is available: yes, and we are happy to add the judges. Ask which email. Do not promise a public link if the repository is private.
Agree before you go on stage who the one named contact is, and give one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Then stop talking. Do not add anything — let the silence sit until the first question.
Closing lines, word for word:
So that is Tie Me Ghana. A deaf patient can say where the pain is. A doctor can be sure she understood the medicine. And nobody had to find a sign language helper.
It runs today, on the phones people already carry, in Ghanaian Sign Language we filmed here.
It is a pilot. It is not approved for clinical use yet, and we will say so on every screen until it is.
Thank you. We are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2E"/>
        </a:solidFill>
      </p:bgPr>
    </p:bg>
    <p:spTree>
      <p:nvGrpSpPr>
        <p:cNvPr id="1" name=""/>
        <p:cNvGrpSpPr/>
        <p:nvPr/>
      </p:nvGrpSpPr>
      <p:grpSpPr>
        <a:xfrm>
          <a:off x="0" y="0"/>
          <a:ext cx="0" cy="0"/>
          <a:chOff x="0" y="0"/>
          <a:chExt cx="0" cy="0"/>
        </a:xfrm>
      </p:grpSpPr>
      <p:sp>
        <p:nvSpPr>
          <p:cNvPr id="2" name="Text 0"/>
          <p:cNvSpPr txBox="1"/>
          <p:nvPr/>
        </p:nvSpPr>
        <p:spPr>
          <a:xfrm>
            <a:off x="566928" y="2148840"/>
            <a:ext cx="10058400" cy="274320"/>
          </a:xfrm>
          <a:prstGeom prst="rect">
            <a:avLst/>
          </a:prstGeom>
          <a:noFill/>
          <a:ln/>
        </p:spPr>
        <p:txBody>
          <a:bodyPr wrap="square" lIns="0" tIns="0" rIns="0" bIns="0" rtlCol="0" anchor="ctr"/>
          <a:lstStyle/>
          <a:p>
            <a:pPr indent="0" marL="0">
              <a:buNone/>
            </a:pPr>
            <a:r>
              <a:rPr lang="en-US" sz="1200" b="1" spc="240" kern="0" dirty="0">
                <a:solidFill>
                  <a:srgbClr val="7FD8B8"/>
                </a:solidFill>
                <a:latin typeface="Calibri" pitchFamily="34" charset="0"/>
                <a:ea typeface="Calibri" pitchFamily="34" charset="-122"/>
                <a:cs typeface="Calibri" pitchFamily="34" charset="-120"/>
              </a:rPr>
              <a:t>MTN GHANA TEKYEREMA PA HACKATHON 2026</a:t>
            </a:r>
            <a:endParaRPr lang="en-US" sz="1200" dirty="0"/>
          </a:p>
        </p:txBody>
      </p:sp>
      <p:sp>
        <p:nvSpPr>
          <p:cNvPr id="3" name="Text 1"/>
          <p:cNvSpPr txBox="1"/>
          <p:nvPr/>
        </p:nvSpPr>
        <p:spPr>
          <a:xfrm>
            <a:off x="566928" y="2487168"/>
            <a:ext cx="10058400" cy="105156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Tie Me Ghana</a:t>
            </a:r>
            <a:endParaRPr lang="en-US" sz="5400" dirty="0"/>
          </a:p>
        </p:txBody>
      </p:sp>
      <p:sp>
        <p:nvSpPr>
          <p:cNvPr id="4" name="Text 2"/>
          <p:cNvSpPr txBox="1"/>
          <p:nvPr/>
        </p:nvSpPr>
        <p:spPr>
          <a:xfrm>
            <a:off x="566928" y="3611880"/>
            <a:ext cx="8595360" cy="868680"/>
          </a:xfrm>
          <a:prstGeom prst="rect">
            <a:avLst/>
          </a:prstGeom>
          <a:noFill/>
          <a:ln/>
        </p:spPr>
        <p:txBody>
          <a:bodyPr wrap="square" lIns="0" tIns="0" rIns="0" bIns="0" rtlCol="0" anchor="ctr"/>
          <a:lstStyle/>
          <a:p>
            <a:pPr indent="0" marL="0">
              <a:lnSpc>
                <a:spcPts val="2500"/>
              </a:lnSpc>
              <a:buNone/>
            </a:pPr>
            <a:r>
              <a:rPr lang="en-US" sz="1700" dirty="0">
                <a:solidFill>
                  <a:srgbClr val="CFE4DC"/>
                </a:solidFill>
                <a:latin typeface="Calibri" pitchFamily="34" charset="0"/>
                <a:ea typeface="Calibri" pitchFamily="34" charset="-122"/>
                <a:cs typeface="Calibri" pitchFamily="34" charset="-120"/>
              </a:rPr>
              <a:t>A deaf patient and a doctor, talking to each other.</a:t>
            </a:r>
            <a:endParaRPr lang="en-US" sz="1700" dirty="0"/>
          </a:p>
          <a:p>
            <a:pPr indent="0" marL="0">
              <a:lnSpc>
                <a:spcPts val="2500"/>
              </a:lnSpc>
              <a:buNone/>
            </a:pPr>
            <a:r>
              <a:rPr lang="en-US" sz="1700" dirty="0">
                <a:solidFill>
                  <a:srgbClr val="CFE4DC"/>
                </a:solidFill>
                <a:latin typeface="Calibri" pitchFamily="34" charset="0"/>
                <a:ea typeface="Calibri" pitchFamily="34" charset="-122"/>
                <a:cs typeface="Calibri" pitchFamily="34" charset="-120"/>
              </a:rPr>
              <a:t>Today, on the phones they already carry.</a:t>
            </a:r>
            <a:endParaRPr lang="en-US" sz="1700" dirty="0"/>
          </a:p>
        </p:txBody>
      </p:sp>
      <p:sp>
        <p:nvSpPr>
          <p:cNvPr id="5" name="Text 3"/>
          <p:cNvSpPr txBox="1"/>
          <p:nvPr/>
        </p:nvSpPr>
        <p:spPr>
          <a:xfrm>
            <a:off x="566928" y="4846320"/>
            <a:ext cx="54864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Team [your team name]</a:t>
            </a:r>
            <a:endParaRPr lang="en-US" sz="1300" dirty="0"/>
          </a:p>
        </p:txBody>
      </p:sp>
      <p:sp>
        <p:nvSpPr>
          <p:cNvPr id="6" name="Text 4"/>
          <p:cNvSpPr txBox="1"/>
          <p:nvPr/>
        </p:nvSpPr>
        <p:spPr>
          <a:xfrm>
            <a:off x="566928" y="6199632"/>
            <a:ext cx="7315200" cy="274320"/>
          </a:xfrm>
          <a:prstGeom prst="rect">
            <a:avLst/>
          </a:prstGeom>
          <a:noFill/>
          <a:ln/>
        </p:spPr>
        <p:txBody>
          <a:bodyPr wrap="square" lIns="0" tIns="0" rIns="0" bIns="0" rtlCol="0" anchor="ctr"/>
          <a:lstStyle/>
          <a:p>
            <a:pPr indent="0" marL="0">
              <a:buNone/>
            </a:pPr>
            <a:r>
              <a:rPr lang="en-US" sz="1050" dirty="0">
                <a:solidFill>
                  <a:srgbClr val="7F9B91"/>
                </a:solidFill>
                <a:latin typeface="Calibri" pitchFamily="34" charset="0"/>
                <a:ea typeface="Calibri" pitchFamily="34" charset="-122"/>
                <a:cs typeface="Calibri" pitchFamily="34" charset="-120"/>
              </a:rPr>
              <a:t>Pilot. Not yet approved for clinical use.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200" kern="0" dirty="0">
                <a:solidFill>
                  <a:srgbClr val="0A4A3A"/>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566928" y="640080"/>
            <a:ext cx="11057839" cy="658368"/>
          </a:xfrm>
          <a:prstGeom prst="rect">
            <a:avLst/>
          </a:prstGeom>
          <a:noFill/>
          <a:ln/>
        </p:spPr>
        <p:txBody>
          <a:bodyPr wrap="square" lIns="0" tIns="0" rIns="0" bIns="0" rtlCol="0" anchor="ctr"/>
          <a:lstStyle/>
          <a:p>
            <a:pPr indent="0" marL="0">
              <a:buNone/>
            </a:pPr>
            <a:r>
              <a:rPr lang="en-US" sz="3400" b="1" dirty="0">
                <a:solidFill>
                  <a:srgbClr val="0F1F1A"/>
                </a:solidFill>
                <a:latin typeface="Cambria" pitchFamily="34" charset="0"/>
                <a:ea typeface="Cambria" pitchFamily="34" charset="-122"/>
                <a:cs typeface="Cambria" pitchFamily="34" charset="-120"/>
              </a:rPr>
              <a:t>Three doors, all closed</a:t>
            </a:r>
            <a:endParaRPr lang="en-US" sz="3400" dirty="0"/>
          </a:p>
        </p:txBody>
      </p:sp>
      <p:sp>
        <p:nvSpPr>
          <p:cNvPr id="4" name="Text 2"/>
          <p:cNvSpPr txBox="1"/>
          <p:nvPr/>
        </p:nvSpPr>
        <p:spPr>
          <a:xfrm>
            <a:off x="566928" y="6382512"/>
            <a:ext cx="3657600" cy="237744"/>
          </a:xfrm>
          <a:prstGeom prst="rect">
            <a:avLst/>
          </a:prstGeom>
          <a:noFill/>
          <a:ln/>
        </p:spPr>
        <p:txBody>
          <a:bodyPr wrap="square" lIns="0" tIns="0" rIns="0" bIns="0" rtlCol="0" anchor="ctr"/>
          <a:lstStyle/>
          <a:p>
            <a:pPr indent="0" marL="0">
              <a:buNone/>
            </a:pPr>
            <a:r>
              <a:rPr lang="en-US" sz="950" dirty="0">
                <a:solidFill>
                  <a:srgbClr val="5D6F68"/>
                </a:solidFill>
                <a:latin typeface="Calibri" pitchFamily="34" charset="0"/>
                <a:ea typeface="Calibri" pitchFamily="34" charset="-122"/>
                <a:cs typeface="Calibri" pitchFamily="34" charset="-120"/>
              </a:rPr>
              <a:t>Tie Me Ghana</a:t>
            </a:r>
            <a:endParaRPr lang="en-US" sz="950" dirty="0"/>
          </a:p>
        </p:txBody>
      </p:sp>
      <p:sp>
        <p:nvSpPr>
          <p:cNvPr id="5" name="Text 3"/>
          <p:cNvSpPr txBox="1"/>
          <p:nvPr/>
        </p:nvSpPr>
        <p:spPr>
          <a:xfrm>
            <a:off x="10710367" y="6382512"/>
            <a:ext cx="914400" cy="237744"/>
          </a:xfrm>
          <a:prstGeom prst="rect">
            <a:avLst/>
          </a:prstGeom>
          <a:noFill/>
          <a:ln/>
        </p:spPr>
        <p:txBody>
          <a:bodyPr wrap="square" lIns="0" tIns="0" rIns="0" bIns="0" rtlCol="0" anchor="ctr"/>
          <a:lstStyle/>
          <a:p>
            <a:pPr algn="r" indent="0" marL="0">
              <a:buNone/>
            </a:pPr>
            <a:r>
              <a:rPr lang="en-US" sz="950" dirty="0">
                <a:solidFill>
                  <a:srgbClr val="5D6F68"/>
                </a:solidFill>
                <a:latin typeface="Calibri" pitchFamily="34" charset="0"/>
                <a:ea typeface="Calibri" pitchFamily="34" charset="-122"/>
                <a:cs typeface="Calibri" pitchFamily="34" charset="-120"/>
              </a:rPr>
              <a:t>2</a:t>
            </a:r>
            <a:endParaRPr lang="en-US" sz="950" dirty="0"/>
          </a:p>
        </p:txBody>
      </p:sp>
      <p:sp>
        <p:nvSpPr>
          <p:cNvPr id="6" name="Shape 4"/>
          <p:cNvSpPr/>
          <p:nvPr/>
        </p:nvSpPr>
        <p:spPr>
          <a:xfrm>
            <a:off x="566928" y="1965960"/>
            <a:ext cx="3529584" cy="2788920"/>
          </a:xfrm>
          <a:prstGeom prst="roundRect">
            <a:avLst>
              <a:gd name="adj" fmla="val 2623"/>
            </a:avLst>
          </a:prstGeom>
          <a:solidFill>
            <a:srgbClr val="F4F8F6"/>
          </a:solidFill>
          <a:ln w="12700">
            <a:solidFill>
              <a:srgbClr val="D8E2DE"/>
            </a:solidFill>
            <a:prstDash val="solid"/>
          </a:ln>
        </p:spPr>
      </p:sp>
      <p:sp>
        <p:nvSpPr>
          <p:cNvPr id="7" name="Shape 5"/>
          <p:cNvSpPr/>
          <p:nvPr/>
        </p:nvSpPr>
        <p:spPr>
          <a:xfrm>
            <a:off x="822960" y="2231136"/>
            <a:ext cx="512064" cy="512064"/>
          </a:xfrm>
          <a:prstGeom prst="ellipse">
            <a:avLst/>
          </a:prstGeom>
          <a:solidFill>
            <a:srgbClr val="0B3D2E"/>
          </a:solidFill>
          <a:ln/>
        </p:spPr>
      </p:sp>
      <p:sp>
        <p:nvSpPr>
          <p:cNvPr id="8" name="Text 6"/>
          <p:cNvSpPr txBox="1"/>
          <p:nvPr/>
        </p:nvSpPr>
        <p:spPr>
          <a:xfrm>
            <a:off x="822960" y="2231136"/>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822960" y="2944368"/>
            <a:ext cx="3017520" cy="274320"/>
          </a:xfrm>
          <a:prstGeom prst="rect">
            <a:avLst/>
          </a:prstGeom>
          <a:noFill/>
          <a:ln/>
        </p:spPr>
        <p:txBody>
          <a:bodyPr wrap="square" lIns="0" tIns="0" rIns="0" bIns="0" rtlCol="0" anchor="ctr"/>
          <a:lstStyle/>
          <a:p>
            <a:pPr indent="0" marL="0">
              <a:buNone/>
            </a:pPr>
            <a:r>
              <a:rPr lang="en-US" sz="1500" b="1" dirty="0">
                <a:solidFill>
                  <a:srgbClr val="0B3D2E"/>
                </a:solidFill>
                <a:latin typeface="Cambria" pitchFamily="34" charset="0"/>
                <a:ea typeface="Cambria" pitchFamily="34" charset="-122"/>
                <a:cs typeface="Cambria" pitchFamily="34" charset="-120"/>
              </a:rPr>
              <a:t>She cannot hear him</a:t>
            </a:r>
            <a:endParaRPr lang="en-US" sz="1500" dirty="0"/>
          </a:p>
        </p:txBody>
      </p:sp>
      <p:sp>
        <p:nvSpPr>
          <p:cNvPr id="10" name="Text 8"/>
          <p:cNvSpPr txBox="1"/>
          <p:nvPr/>
        </p:nvSpPr>
        <p:spPr>
          <a:xfrm>
            <a:off x="822960" y="3310128"/>
            <a:ext cx="3017520" cy="1325880"/>
          </a:xfrm>
          <a:prstGeom prst="rect">
            <a:avLst/>
          </a:prstGeom>
          <a:noFill/>
          <a:ln/>
        </p:spPr>
        <p:txBody>
          <a:bodyPr wrap="square" lIns="0" tIns="0" rIns="0" bIns="0" rtlCol="0" anchor="t"/>
          <a:lstStyle/>
          <a:p>
            <a:pPr indent="0" marL="0">
              <a:lnSpc>
                <a:spcPts val="1584"/>
              </a:lnSpc>
              <a:buNone/>
            </a:pPr>
            <a:r>
              <a:rPr lang="en-US" sz="1200" dirty="0">
                <a:solidFill>
                  <a:srgbClr val="5D6F68"/>
                </a:solidFill>
                <a:latin typeface="Calibri" pitchFamily="34" charset="0"/>
                <a:ea typeface="Calibri" pitchFamily="34" charset="-122"/>
                <a:cs typeface="Calibri" pitchFamily="34" charset="-120"/>
              </a:rPr>
              <a:t>Speech is the hospital's default, and it carries nothing to a Deaf patient.</a:t>
            </a:r>
            <a:endParaRPr lang="en-US" sz="1200" dirty="0"/>
          </a:p>
        </p:txBody>
      </p:sp>
      <p:sp>
        <p:nvSpPr>
          <p:cNvPr id="11" name="Shape 9"/>
          <p:cNvSpPr/>
          <p:nvPr/>
        </p:nvSpPr>
        <p:spPr>
          <a:xfrm>
            <a:off x="4334256" y="1965960"/>
            <a:ext cx="3529584" cy="2788920"/>
          </a:xfrm>
          <a:prstGeom prst="roundRect">
            <a:avLst>
              <a:gd name="adj" fmla="val 2623"/>
            </a:avLst>
          </a:prstGeom>
          <a:solidFill>
            <a:srgbClr val="F4F8F6"/>
          </a:solidFill>
          <a:ln w="12700">
            <a:solidFill>
              <a:srgbClr val="D8E2DE"/>
            </a:solidFill>
            <a:prstDash val="solid"/>
          </a:ln>
        </p:spPr>
      </p:sp>
      <p:sp>
        <p:nvSpPr>
          <p:cNvPr id="12" name="Shape 10"/>
          <p:cNvSpPr/>
          <p:nvPr/>
        </p:nvSpPr>
        <p:spPr>
          <a:xfrm>
            <a:off x="4590288" y="2231136"/>
            <a:ext cx="512064" cy="512064"/>
          </a:xfrm>
          <a:prstGeom prst="ellipse">
            <a:avLst/>
          </a:prstGeom>
          <a:solidFill>
            <a:srgbClr val="0B3D2E"/>
          </a:solidFill>
          <a:ln/>
        </p:spPr>
      </p:sp>
      <p:sp>
        <p:nvSpPr>
          <p:cNvPr id="13" name="Text 11"/>
          <p:cNvSpPr txBox="1"/>
          <p:nvPr/>
        </p:nvSpPr>
        <p:spPr>
          <a:xfrm>
            <a:off x="4590288" y="2231136"/>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4590288" y="2944368"/>
            <a:ext cx="3017520" cy="274320"/>
          </a:xfrm>
          <a:prstGeom prst="rect">
            <a:avLst/>
          </a:prstGeom>
          <a:noFill/>
          <a:ln/>
        </p:spPr>
        <p:txBody>
          <a:bodyPr wrap="square" lIns="0" tIns="0" rIns="0" bIns="0" rtlCol="0" anchor="ctr"/>
          <a:lstStyle/>
          <a:p>
            <a:pPr indent="0" marL="0">
              <a:buNone/>
            </a:pPr>
            <a:r>
              <a:rPr lang="en-US" sz="1500" b="1" dirty="0">
                <a:solidFill>
                  <a:srgbClr val="0B3D2E"/>
                </a:solidFill>
                <a:latin typeface="Cambria" pitchFamily="34" charset="0"/>
                <a:ea typeface="Cambria" pitchFamily="34" charset="-122"/>
                <a:cs typeface="Cambria" pitchFamily="34" charset="-120"/>
              </a:rPr>
              <a:t>She cannot read it</a:t>
            </a:r>
            <a:endParaRPr lang="en-US" sz="1500" dirty="0"/>
          </a:p>
        </p:txBody>
      </p:sp>
      <p:sp>
        <p:nvSpPr>
          <p:cNvPr id="15" name="Text 13"/>
          <p:cNvSpPr txBox="1"/>
          <p:nvPr/>
        </p:nvSpPr>
        <p:spPr>
          <a:xfrm>
            <a:off x="4590288" y="3310128"/>
            <a:ext cx="3017520" cy="1325880"/>
          </a:xfrm>
          <a:prstGeom prst="rect">
            <a:avLst/>
          </a:prstGeom>
          <a:noFill/>
          <a:ln/>
        </p:spPr>
        <p:txBody>
          <a:bodyPr wrap="square" lIns="0" tIns="0" rIns="0" bIns="0" rtlCol="0" anchor="t"/>
          <a:lstStyle/>
          <a:p>
            <a:pPr indent="0" marL="0">
              <a:lnSpc>
                <a:spcPts val="1584"/>
              </a:lnSpc>
              <a:buNone/>
            </a:pPr>
            <a:r>
              <a:rPr lang="en-US" sz="1200" dirty="0">
                <a:solidFill>
                  <a:srgbClr val="5D6F68"/>
                </a:solidFill>
                <a:latin typeface="Calibri" pitchFamily="34" charset="0"/>
                <a:ea typeface="Calibri" pitchFamily="34" charset="-122"/>
                <a:cs typeface="Calibri" pitchFamily="34" charset="-120"/>
              </a:rPr>
              <a:t>Writing is the fallback everywhere. Many Deaf Ghanaians did not finish school, so the note is no better than the speech.</a:t>
            </a:r>
            <a:endParaRPr lang="en-US" sz="1200" dirty="0"/>
          </a:p>
        </p:txBody>
      </p:sp>
      <p:sp>
        <p:nvSpPr>
          <p:cNvPr id="16" name="Shape 14"/>
          <p:cNvSpPr/>
          <p:nvPr/>
        </p:nvSpPr>
        <p:spPr>
          <a:xfrm>
            <a:off x="8101584" y="1965960"/>
            <a:ext cx="3529584" cy="2788920"/>
          </a:xfrm>
          <a:prstGeom prst="roundRect">
            <a:avLst>
              <a:gd name="adj" fmla="val 2623"/>
            </a:avLst>
          </a:prstGeom>
          <a:solidFill>
            <a:srgbClr val="F4F8F6"/>
          </a:solidFill>
          <a:ln w="12700">
            <a:solidFill>
              <a:srgbClr val="D8E2DE"/>
            </a:solidFill>
            <a:prstDash val="solid"/>
          </a:ln>
        </p:spPr>
      </p:sp>
      <p:sp>
        <p:nvSpPr>
          <p:cNvPr id="17" name="Shape 15"/>
          <p:cNvSpPr/>
          <p:nvPr/>
        </p:nvSpPr>
        <p:spPr>
          <a:xfrm>
            <a:off x="8357616" y="2231136"/>
            <a:ext cx="512064" cy="512064"/>
          </a:xfrm>
          <a:prstGeom prst="ellipse">
            <a:avLst/>
          </a:prstGeom>
          <a:solidFill>
            <a:srgbClr val="0B3D2E"/>
          </a:solidFill>
          <a:ln/>
        </p:spPr>
      </p:sp>
      <p:sp>
        <p:nvSpPr>
          <p:cNvPr id="18" name="Text 16"/>
          <p:cNvSpPr txBox="1"/>
          <p:nvPr/>
        </p:nvSpPr>
        <p:spPr>
          <a:xfrm>
            <a:off x="8357616" y="2231136"/>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8357616" y="2944368"/>
            <a:ext cx="3017520" cy="274320"/>
          </a:xfrm>
          <a:prstGeom prst="rect">
            <a:avLst/>
          </a:prstGeom>
          <a:noFill/>
          <a:ln/>
        </p:spPr>
        <p:txBody>
          <a:bodyPr wrap="square" lIns="0" tIns="0" rIns="0" bIns="0" rtlCol="0" anchor="ctr"/>
          <a:lstStyle/>
          <a:p>
            <a:pPr indent="0" marL="0">
              <a:buNone/>
            </a:pPr>
            <a:r>
              <a:rPr lang="en-US" sz="1500" b="1" dirty="0">
                <a:solidFill>
                  <a:srgbClr val="0B3D2E"/>
                </a:solidFill>
                <a:latin typeface="Cambria" pitchFamily="34" charset="0"/>
                <a:ea typeface="Cambria" pitchFamily="34" charset="-122"/>
                <a:cs typeface="Cambria" pitchFamily="34" charset="-120"/>
              </a:rPr>
              <a:t>There is no interpreter</a:t>
            </a:r>
            <a:endParaRPr lang="en-US" sz="1500" dirty="0"/>
          </a:p>
        </p:txBody>
      </p:sp>
      <p:sp>
        <p:nvSpPr>
          <p:cNvPr id="20" name="Text 18"/>
          <p:cNvSpPr txBox="1"/>
          <p:nvPr/>
        </p:nvSpPr>
        <p:spPr>
          <a:xfrm>
            <a:off x="8357616" y="3310128"/>
            <a:ext cx="3017520" cy="1325880"/>
          </a:xfrm>
          <a:prstGeom prst="rect">
            <a:avLst/>
          </a:prstGeom>
          <a:noFill/>
          <a:ln/>
        </p:spPr>
        <p:txBody>
          <a:bodyPr wrap="square" lIns="0" tIns="0" rIns="0" bIns="0" rtlCol="0" anchor="t"/>
          <a:lstStyle/>
          <a:p>
            <a:pPr indent="0" marL="0">
              <a:lnSpc>
                <a:spcPts val="1584"/>
              </a:lnSpc>
              <a:buNone/>
            </a:pPr>
            <a:r>
              <a:rPr lang="en-US" sz="1200" dirty="0">
                <a:solidFill>
                  <a:srgbClr val="5D6F68"/>
                </a:solidFill>
                <a:latin typeface="Calibri" pitchFamily="34" charset="0"/>
                <a:ea typeface="Calibri" pitchFamily="34" charset="-122"/>
                <a:cs typeface="Calibri" pitchFamily="34" charset="-120"/>
              </a:rPr>
              <a:t>GhSL interpreters are few. A ward cannot staff one, and at night there is nobody at all.</a:t>
            </a:r>
            <a:endParaRPr lang="en-US" sz="1200" dirty="0"/>
          </a:p>
        </p:txBody>
      </p:sp>
      <p:sp>
        <p:nvSpPr>
          <p:cNvPr id="21" name="Text 19"/>
          <p:cNvSpPr txBox="1"/>
          <p:nvPr/>
        </p:nvSpPr>
        <p:spPr>
          <a:xfrm>
            <a:off x="566928" y="5166360"/>
            <a:ext cx="11057839" cy="1097280"/>
          </a:xfrm>
          <a:prstGeom prst="rect">
            <a:avLst/>
          </a:prstGeom>
          <a:noFill/>
          <a:ln/>
        </p:spPr>
        <p:txBody>
          <a:bodyPr wrap="square" lIns="0" tIns="0" rIns="0" bIns="0" rtlCol="0" anchor="t"/>
          <a:lstStyle/>
          <a:p>
            <a:pPr indent="0" marL="0">
              <a:lnSpc>
                <a:spcPts val="1848"/>
              </a:lnSpc>
              <a:buNone/>
            </a:pPr>
            <a:r>
              <a:rPr lang="en-US" sz="1400" dirty="0">
                <a:solidFill>
                  <a:srgbClr val="0F1F1A"/>
                </a:solidFill>
                <a:latin typeface="Calibri" pitchFamily="34" charset="0"/>
                <a:ea typeface="Calibri" pitchFamily="34" charset="-122"/>
                <a:cs typeface="Calibri" pitchFamily="34" charset="-120"/>
              </a:rPr>
              <a:t>So the visit runs on hand waving and guessing. The patient cannot say where the pain is. The doctor cannot be sure she understood the medicine. Both of them leave hoping.</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200" kern="0" dirty="0">
                <a:solidFill>
                  <a:srgbClr val="0A4A3A"/>
                </a:solidFill>
                <a:latin typeface="Calibri" pitchFamily="34" charset="0"/>
                <a:ea typeface="Calibri" pitchFamily="34" charset="-122"/>
                <a:cs typeface="Calibri" pitchFamily="34" charset="-120"/>
              </a:rPr>
              <a:t>WHAT IT IS</a:t>
            </a:r>
            <a:endParaRPr lang="en-US" sz="1100" dirty="0"/>
          </a:p>
        </p:txBody>
      </p:sp>
      <p:sp>
        <p:nvSpPr>
          <p:cNvPr id="3" name="Text 1"/>
          <p:cNvSpPr txBox="1"/>
          <p:nvPr/>
        </p:nvSpPr>
        <p:spPr>
          <a:xfrm>
            <a:off x="566928" y="640080"/>
            <a:ext cx="11057839" cy="658368"/>
          </a:xfrm>
          <a:prstGeom prst="rect">
            <a:avLst/>
          </a:prstGeom>
          <a:noFill/>
          <a:ln/>
        </p:spPr>
        <p:txBody>
          <a:bodyPr wrap="square" lIns="0" tIns="0" rIns="0" bIns="0" rtlCol="0" anchor="ctr"/>
          <a:lstStyle/>
          <a:p>
            <a:pPr indent="0" marL="0">
              <a:buNone/>
            </a:pPr>
            <a:r>
              <a:rPr lang="en-US" sz="3400" b="1" dirty="0">
                <a:solidFill>
                  <a:srgbClr val="0F1F1A"/>
                </a:solidFill>
                <a:latin typeface="Cambria" pitchFamily="34" charset="0"/>
                <a:ea typeface="Cambria" pitchFamily="34" charset="-122"/>
                <a:cs typeface="Cambria" pitchFamily="34" charset="-120"/>
              </a:rPr>
              <a:t>One web page, two ways to use it</a:t>
            </a:r>
            <a:endParaRPr lang="en-US" sz="3400" dirty="0"/>
          </a:p>
        </p:txBody>
      </p:sp>
      <p:sp>
        <p:nvSpPr>
          <p:cNvPr id="4" name="Text 2"/>
          <p:cNvSpPr txBox="1"/>
          <p:nvPr/>
        </p:nvSpPr>
        <p:spPr>
          <a:xfrm>
            <a:off x="566928" y="1335024"/>
            <a:ext cx="9960559" cy="384048"/>
          </a:xfrm>
          <a:prstGeom prst="rect">
            <a:avLst/>
          </a:prstGeom>
          <a:noFill/>
          <a:ln/>
        </p:spPr>
        <p:txBody>
          <a:bodyPr wrap="square" lIns="0" tIns="0" rIns="0" bIns="0" rtlCol="0" anchor="ctr"/>
          <a:lstStyle/>
          <a:p>
            <a:pPr indent="0" marL="0">
              <a:buNone/>
            </a:pPr>
            <a:r>
              <a:rPr lang="en-US" sz="1400" dirty="0">
                <a:solidFill>
                  <a:srgbClr val="5D6F68"/>
                </a:solidFill>
                <a:latin typeface="Calibri" pitchFamily="34" charset="0"/>
                <a:ea typeface="Calibri" pitchFamily="34" charset="-122"/>
                <a:cs typeface="Calibri" pitchFamily="34" charset="-120"/>
              </a:rPr>
              <a:t>No app store, no download, no new hardware on the ward.</a:t>
            </a:r>
            <a:endParaRPr lang="en-US" sz="1400" dirty="0"/>
          </a:p>
        </p:txBody>
      </p:sp>
      <p:sp>
        <p:nvSpPr>
          <p:cNvPr id="5" name="Text 3"/>
          <p:cNvSpPr txBox="1"/>
          <p:nvPr/>
        </p:nvSpPr>
        <p:spPr>
          <a:xfrm>
            <a:off x="566928" y="6382512"/>
            <a:ext cx="3657600" cy="237744"/>
          </a:xfrm>
          <a:prstGeom prst="rect">
            <a:avLst/>
          </a:prstGeom>
          <a:noFill/>
          <a:ln/>
        </p:spPr>
        <p:txBody>
          <a:bodyPr wrap="square" lIns="0" tIns="0" rIns="0" bIns="0" rtlCol="0" anchor="ctr"/>
          <a:lstStyle/>
          <a:p>
            <a:pPr indent="0" marL="0">
              <a:buNone/>
            </a:pPr>
            <a:r>
              <a:rPr lang="en-US" sz="950" dirty="0">
                <a:solidFill>
                  <a:srgbClr val="5D6F68"/>
                </a:solidFill>
                <a:latin typeface="Calibri" pitchFamily="34" charset="0"/>
                <a:ea typeface="Calibri" pitchFamily="34" charset="-122"/>
                <a:cs typeface="Calibri" pitchFamily="34" charset="-120"/>
              </a:rPr>
              <a:t>Tie Me Ghana</a:t>
            </a:r>
            <a:endParaRPr lang="en-US" sz="950" dirty="0"/>
          </a:p>
        </p:txBody>
      </p:sp>
      <p:sp>
        <p:nvSpPr>
          <p:cNvPr id="6" name="Text 4"/>
          <p:cNvSpPr txBox="1"/>
          <p:nvPr/>
        </p:nvSpPr>
        <p:spPr>
          <a:xfrm>
            <a:off x="10710367" y="6382512"/>
            <a:ext cx="914400" cy="237744"/>
          </a:xfrm>
          <a:prstGeom prst="rect">
            <a:avLst/>
          </a:prstGeom>
          <a:noFill/>
          <a:ln/>
        </p:spPr>
        <p:txBody>
          <a:bodyPr wrap="square" lIns="0" tIns="0" rIns="0" bIns="0" rtlCol="0" anchor="ctr"/>
          <a:lstStyle/>
          <a:p>
            <a:pPr algn="r" indent="0" marL="0">
              <a:buNone/>
            </a:pPr>
            <a:r>
              <a:rPr lang="en-US" sz="950" dirty="0">
                <a:solidFill>
                  <a:srgbClr val="5D6F68"/>
                </a:solidFill>
                <a:latin typeface="Calibri" pitchFamily="34" charset="0"/>
                <a:ea typeface="Calibri" pitchFamily="34" charset="-122"/>
                <a:cs typeface="Calibri" pitchFamily="34" charset="-120"/>
              </a:rPr>
              <a:t>3</a:t>
            </a:r>
            <a:endParaRPr lang="en-US" sz="950" dirty="0"/>
          </a:p>
        </p:txBody>
      </p:sp>
      <p:sp>
        <p:nvSpPr>
          <p:cNvPr id="7" name="Shape 5"/>
          <p:cNvSpPr/>
          <p:nvPr/>
        </p:nvSpPr>
        <p:spPr>
          <a:xfrm>
            <a:off x="566928" y="2057400"/>
            <a:ext cx="6903720" cy="1481328"/>
          </a:xfrm>
          <a:prstGeom prst="roundRect">
            <a:avLst>
              <a:gd name="adj" fmla="val 4938"/>
            </a:avLst>
          </a:prstGeom>
          <a:solidFill>
            <a:srgbClr val="F4F8F6"/>
          </a:solidFill>
          <a:ln w="12700">
            <a:solidFill>
              <a:srgbClr val="D8E2DE"/>
            </a:solidFill>
            <a:prstDash val="solid"/>
          </a:ln>
        </p:spPr>
      </p:sp>
      <p:sp>
        <p:nvSpPr>
          <p:cNvPr id="8" name="Text 6"/>
          <p:cNvSpPr txBox="1"/>
          <p:nvPr/>
        </p:nvSpPr>
        <p:spPr>
          <a:xfrm>
            <a:off x="841248" y="2295144"/>
            <a:ext cx="4023360" cy="274320"/>
          </a:xfrm>
          <a:prstGeom prst="rect">
            <a:avLst/>
          </a:prstGeom>
          <a:noFill/>
          <a:ln/>
        </p:spPr>
        <p:txBody>
          <a:bodyPr wrap="square" lIns="0" tIns="0" rIns="0" bIns="0" rtlCol="0" anchor="ctr"/>
          <a:lstStyle/>
          <a:p>
            <a:pPr indent="0" marL="0">
              <a:buNone/>
            </a:pPr>
            <a:r>
              <a:rPr lang="en-US" sz="1500" b="1" dirty="0">
                <a:solidFill>
                  <a:srgbClr val="0B3D2E"/>
                </a:solidFill>
                <a:latin typeface="Cambria" pitchFamily="34" charset="0"/>
                <a:ea typeface="Cambria" pitchFamily="34" charset="-122"/>
                <a:cs typeface="Cambria" pitchFamily="34" charset="-120"/>
              </a:rPr>
              <a:t>Two devices</a:t>
            </a:r>
            <a:endParaRPr lang="en-US" sz="1500" dirty="0"/>
          </a:p>
        </p:txBody>
      </p:sp>
      <p:sp>
        <p:nvSpPr>
          <p:cNvPr id="9" name="Text 7"/>
          <p:cNvSpPr txBox="1"/>
          <p:nvPr/>
        </p:nvSpPr>
        <p:spPr>
          <a:xfrm>
            <a:off x="841248" y="2660904"/>
            <a:ext cx="6355080" cy="786384"/>
          </a:xfrm>
          <a:prstGeom prst="rect">
            <a:avLst/>
          </a:prstGeom>
          <a:noFill/>
          <a:ln/>
        </p:spPr>
        <p:txBody>
          <a:bodyPr wrap="square" lIns="0" tIns="0" rIns="0" bIns="0" rtlCol="0" anchor="t"/>
          <a:lstStyle/>
          <a:p>
            <a:pPr indent="0" marL="0">
              <a:lnSpc>
                <a:spcPts val="1584"/>
              </a:lnSpc>
              <a:buNone/>
            </a:pPr>
            <a:r>
              <a:rPr lang="en-US" sz="1200" dirty="0">
                <a:solidFill>
                  <a:srgbClr val="5D6F68"/>
                </a:solidFill>
                <a:latin typeface="Calibri" pitchFamily="34" charset="0"/>
                <a:ea typeface="Calibri" pitchFamily="34" charset="-122"/>
                <a:cs typeface="Calibri" pitchFamily="34" charset="-120"/>
              </a:rPr>
              <a:t>The patient holds her own phone. A six character code pairs them, and from then on the two devices talk straight to each other.</a:t>
            </a:r>
            <a:endParaRPr lang="en-US" sz="1200" dirty="0"/>
          </a:p>
        </p:txBody>
      </p:sp>
      <p:sp>
        <p:nvSpPr>
          <p:cNvPr id="10" name="Shape 8"/>
          <p:cNvSpPr/>
          <p:nvPr/>
        </p:nvSpPr>
        <p:spPr>
          <a:xfrm>
            <a:off x="6053328" y="2276856"/>
            <a:ext cx="1298448" cy="256032"/>
          </a:xfrm>
          <a:prstGeom prst="roundRect">
            <a:avLst>
              <a:gd name="adj" fmla="val 50000"/>
            </a:avLst>
          </a:prstGeom>
          <a:solidFill>
            <a:srgbClr val="0B3D2E"/>
          </a:solidFill>
          <a:ln/>
        </p:spPr>
      </p:sp>
      <p:sp>
        <p:nvSpPr>
          <p:cNvPr id="11" name="Text 9"/>
          <p:cNvSpPr txBox="1"/>
          <p:nvPr/>
        </p:nvSpPr>
        <p:spPr>
          <a:xfrm>
            <a:off x="6053328" y="2276856"/>
            <a:ext cx="1298448" cy="256032"/>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WORKING NOW</a:t>
            </a:r>
            <a:endParaRPr lang="en-US" sz="900" dirty="0"/>
          </a:p>
        </p:txBody>
      </p:sp>
      <p:sp>
        <p:nvSpPr>
          <p:cNvPr id="12" name="Shape 10"/>
          <p:cNvSpPr/>
          <p:nvPr/>
        </p:nvSpPr>
        <p:spPr>
          <a:xfrm>
            <a:off x="566928" y="3758184"/>
            <a:ext cx="6903720" cy="1481328"/>
          </a:xfrm>
          <a:prstGeom prst="roundRect">
            <a:avLst>
              <a:gd name="adj" fmla="val 4938"/>
            </a:avLst>
          </a:prstGeom>
          <a:solidFill>
            <a:srgbClr val="F4F8F6"/>
          </a:solidFill>
          <a:ln w="12700">
            <a:solidFill>
              <a:srgbClr val="D8E2DE"/>
            </a:solidFill>
            <a:prstDash val="solid"/>
          </a:ln>
        </p:spPr>
      </p:sp>
      <p:sp>
        <p:nvSpPr>
          <p:cNvPr id="13" name="Text 11"/>
          <p:cNvSpPr txBox="1"/>
          <p:nvPr/>
        </p:nvSpPr>
        <p:spPr>
          <a:xfrm>
            <a:off x="841248" y="3995928"/>
            <a:ext cx="4023360" cy="274320"/>
          </a:xfrm>
          <a:prstGeom prst="rect">
            <a:avLst/>
          </a:prstGeom>
          <a:noFill/>
          <a:ln/>
        </p:spPr>
        <p:txBody>
          <a:bodyPr wrap="square" lIns="0" tIns="0" rIns="0" bIns="0" rtlCol="0" anchor="ctr"/>
          <a:lstStyle/>
          <a:p>
            <a:pPr indent="0" marL="0">
              <a:buNone/>
            </a:pPr>
            <a:r>
              <a:rPr lang="en-US" sz="1500" b="1" dirty="0">
                <a:solidFill>
                  <a:srgbClr val="0B3D2E"/>
                </a:solidFill>
                <a:latin typeface="Cambria" pitchFamily="34" charset="0"/>
                <a:ea typeface="Cambria" pitchFamily="34" charset="-122"/>
                <a:cs typeface="Cambria" pitchFamily="34" charset="-120"/>
              </a:rPr>
              <a:t>Or one device</a:t>
            </a:r>
            <a:endParaRPr lang="en-US" sz="1500" dirty="0"/>
          </a:p>
        </p:txBody>
      </p:sp>
      <p:sp>
        <p:nvSpPr>
          <p:cNvPr id="14" name="Text 12"/>
          <p:cNvSpPr txBox="1"/>
          <p:nvPr/>
        </p:nvSpPr>
        <p:spPr>
          <a:xfrm>
            <a:off x="841248" y="4361688"/>
            <a:ext cx="6355080" cy="786384"/>
          </a:xfrm>
          <a:prstGeom prst="rect">
            <a:avLst/>
          </a:prstGeom>
          <a:noFill/>
          <a:ln/>
        </p:spPr>
        <p:txBody>
          <a:bodyPr wrap="square" lIns="0" tIns="0" rIns="0" bIns="0" rtlCol="0" anchor="t"/>
          <a:lstStyle/>
          <a:p>
            <a:pPr indent="0" marL="0">
              <a:lnSpc>
                <a:spcPts val="1584"/>
              </a:lnSpc>
              <a:buNone/>
            </a:pPr>
            <a:r>
              <a:rPr lang="en-US" sz="1200" dirty="0">
                <a:solidFill>
                  <a:srgbClr val="5D6F68"/>
                </a:solidFill>
                <a:latin typeface="Calibri" pitchFamily="34" charset="0"/>
                <a:ea typeface="Calibri" pitchFamily="34" charset="-122"/>
                <a:cs typeface="Calibri" pitchFamily="34" charset="-120"/>
              </a:rPr>
              <a:t>No smart phone? The same visit runs on one screen, split down the middle, turned between the two people.</a:t>
            </a:r>
            <a:endParaRPr lang="en-US" sz="1200" dirty="0"/>
          </a:p>
        </p:txBody>
      </p:sp>
      <p:sp>
        <p:nvSpPr>
          <p:cNvPr id="15" name="Shape 13"/>
          <p:cNvSpPr/>
          <p:nvPr/>
        </p:nvSpPr>
        <p:spPr>
          <a:xfrm>
            <a:off x="6053328" y="3977640"/>
            <a:ext cx="1298448" cy="256032"/>
          </a:xfrm>
          <a:prstGeom prst="roundRect">
            <a:avLst>
              <a:gd name="adj" fmla="val 50000"/>
            </a:avLst>
          </a:prstGeom>
          <a:solidFill>
            <a:srgbClr val="0B3D2E"/>
          </a:solidFill>
          <a:ln/>
        </p:spPr>
      </p:sp>
      <p:sp>
        <p:nvSpPr>
          <p:cNvPr id="16" name="Text 14"/>
          <p:cNvSpPr txBox="1"/>
          <p:nvPr/>
        </p:nvSpPr>
        <p:spPr>
          <a:xfrm>
            <a:off x="6053328" y="3977640"/>
            <a:ext cx="1298448" cy="256032"/>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WORKING NOW</a:t>
            </a:r>
            <a:endParaRPr lang="en-US" sz="900" dirty="0"/>
          </a:p>
        </p:txBody>
      </p:sp>
      <p:sp>
        <p:nvSpPr>
          <p:cNvPr id="17" name="Text 15"/>
          <p:cNvSpPr txBox="1"/>
          <p:nvPr/>
        </p:nvSpPr>
        <p:spPr>
          <a:xfrm>
            <a:off x="7818120" y="2103120"/>
            <a:ext cx="3840480" cy="475488"/>
          </a:xfrm>
          <a:prstGeom prst="rect">
            <a:avLst/>
          </a:prstGeom>
          <a:noFill/>
          <a:ln/>
        </p:spPr>
        <p:txBody>
          <a:bodyPr wrap="square" lIns="0" tIns="0" rIns="0" bIns="0" rtlCol="0" anchor="ctr"/>
          <a:lstStyle/>
          <a:p>
            <a:pPr indent="0" marL="0">
              <a:buNone/>
            </a:pPr>
            <a:r>
              <a:rPr lang="en-US" sz="3000" b="1" dirty="0">
                <a:solidFill>
                  <a:srgbClr val="0B3D2E"/>
                </a:solidFill>
                <a:latin typeface="Cambria" pitchFamily="34" charset="0"/>
                <a:ea typeface="Cambria" pitchFamily="34" charset="-122"/>
                <a:cs typeface="Cambria" pitchFamily="34" charset="-120"/>
              </a:rPr>
              <a:t>108</a:t>
            </a:r>
            <a:endParaRPr lang="en-US" sz="3000" dirty="0"/>
          </a:p>
        </p:txBody>
      </p:sp>
      <p:sp>
        <p:nvSpPr>
          <p:cNvPr id="18" name="Text 16"/>
          <p:cNvSpPr txBox="1"/>
          <p:nvPr/>
        </p:nvSpPr>
        <p:spPr>
          <a:xfrm>
            <a:off x="7818120" y="2578608"/>
            <a:ext cx="3840480" cy="274320"/>
          </a:xfrm>
          <a:prstGeom prst="rect">
            <a:avLst/>
          </a:prstGeom>
          <a:noFill/>
          <a:ln/>
        </p:spPr>
        <p:txBody>
          <a:bodyPr wrap="square" lIns="0" tIns="0" rIns="0" bIns="0" rtlCol="0" anchor="ctr"/>
          <a:lstStyle/>
          <a:p>
            <a:pPr indent="0" marL="0">
              <a:buNone/>
            </a:pPr>
            <a:r>
              <a:rPr lang="en-US" sz="1100" dirty="0">
                <a:solidFill>
                  <a:srgbClr val="5D6F68"/>
                </a:solidFill>
                <a:latin typeface="Calibri" pitchFamily="34" charset="0"/>
                <a:ea typeface="Calibri" pitchFamily="34" charset="-122"/>
                <a:cs typeface="Calibri" pitchFamily="34" charset="-120"/>
              </a:rPr>
              <a:t>reviewed GhSL clips</a:t>
            </a:r>
            <a:endParaRPr lang="en-US" sz="1100" dirty="0"/>
          </a:p>
        </p:txBody>
      </p:sp>
      <p:sp>
        <p:nvSpPr>
          <p:cNvPr id="19" name="Text 17"/>
          <p:cNvSpPr txBox="1"/>
          <p:nvPr/>
        </p:nvSpPr>
        <p:spPr>
          <a:xfrm>
            <a:off x="7818120" y="3291840"/>
            <a:ext cx="3840480" cy="475488"/>
          </a:xfrm>
          <a:prstGeom prst="rect">
            <a:avLst/>
          </a:prstGeom>
          <a:noFill/>
          <a:ln/>
        </p:spPr>
        <p:txBody>
          <a:bodyPr wrap="square" lIns="0" tIns="0" rIns="0" bIns="0" rtlCol="0" anchor="ctr"/>
          <a:lstStyle/>
          <a:p>
            <a:pPr indent="0" marL="0">
              <a:buNone/>
            </a:pPr>
            <a:r>
              <a:rPr lang="en-US" sz="3000" b="1" dirty="0">
                <a:solidFill>
                  <a:srgbClr val="0B3D2E"/>
                </a:solidFill>
                <a:latin typeface="Cambria" pitchFamily="34" charset="0"/>
                <a:ea typeface="Cambria" pitchFamily="34" charset="-122"/>
                <a:cs typeface="Cambria" pitchFamily="34" charset="-120"/>
              </a:rPr>
              <a:t>13.2 MB</a:t>
            </a:r>
            <a:endParaRPr lang="en-US" sz="3000" dirty="0"/>
          </a:p>
        </p:txBody>
      </p:sp>
      <p:sp>
        <p:nvSpPr>
          <p:cNvPr id="20" name="Text 18"/>
          <p:cNvSpPr txBox="1"/>
          <p:nvPr/>
        </p:nvSpPr>
        <p:spPr>
          <a:xfrm>
            <a:off x="7818120" y="3767328"/>
            <a:ext cx="3840480" cy="274320"/>
          </a:xfrm>
          <a:prstGeom prst="rect">
            <a:avLst/>
          </a:prstGeom>
          <a:noFill/>
          <a:ln/>
        </p:spPr>
        <p:txBody>
          <a:bodyPr wrap="square" lIns="0" tIns="0" rIns="0" bIns="0" rtlCol="0" anchor="ctr"/>
          <a:lstStyle/>
          <a:p>
            <a:pPr indent="0" marL="0">
              <a:buNone/>
            </a:pPr>
            <a:r>
              <a:rPr lang="en-US" sz="1100" dirty="0">
                <a:solidFill>
                  <a:srgbClr val="5D6F68"/>
                </a:solidFill>
                <a:latin typeface="Calibri" pitchFamily="34" charset="0"/>
                <a:ea typeface="Calibri" pitchFamily="34" charset="-122"/>
                <a:cs typeface="Calibri" pitchFamily="34" charset="-120"/>
              </a:rPr>
              <a:t>whole library, on the phone</a:t>
            </a:r>
            <a:endParaRPr lang="en-US" sz="1100" dirty="0"/>
          </a:p>
        </p:txBody>
      </p:sp>
      <p:sp>
        <p:nvSpPr>
          <p:cNvPr id="21" name="Text 19"/>
          <p:cNvSpPr txBox="1"/>
          <p:nvPr/>
        </p:nvSpPr>
        <p:spPr>
          <a:xfrm>
            <a:off x="7818120" y="4480560"/>
            <a:ext cx="3840480" cy="475488"/>
          </a:xfrm>
          <a:prstGeom prst="rect">
            <a:avLst/>
          </a:prstGeom>
          <a:noFill/>
          <a:ln/>
        </p:spPr>
        <p:txBody>
          <a:bodyPr wrap="square" lIns="0" tIns="0" rIns="0" bIns="0" rtlCol="0" anchor="ctr"/>
          <a:lstStyle/>
          <a:p>
            <a:pPr indent="0" marL="0">
              <a:buNone/>
            </a:pPr>
            <a:r>
              <a:rPr lang="en-US" sz="3000" b="1" dirty="0">
                <a:solidFill>
                  <a:srgbClr val="0B3D2E"/>
                </a:solidFill>
                <a:latin typeface="Cambria" pitchFamily="34" charset="0"/>
                <a:ea typeface="Cambria" pitchFamily="34" charset="-122"/>
                <a:cs typeface="Cambria" pitchFamily="34" charset="-120"/>
              </a:rPr>
              <a:t>0</a:t>
            </a:r>
            <a:endParaRPr lang="en-US" sz="3000" dirty="0"/>
          </a:p>
        </p:txBody>
      </p:sp>
      <p:sp>
        <p:nvSpPr>
          <p:cNvPr id="22" name="Text 20"/>
          <p:cNvSpPr txBox="1"/>
          <p:nvPr/>
        </p:nvSpPr>
        <p:spPr>
          <a:xfrm>
            <a:off x="7818120" y="4956048"/>
            <a:ext cx="3840480" cy="274320"/>
          </a:xfrm>
          <a:prstGeom prst="rect">
            <a:avLst/>
          </a:prstGeom>
          <a:noFill/>
          <a:ln/>
        </p:spPr>
        <p:txBody>
          <a:bodyPr wrap="square" lIns="0" tIns="0" rIns="0" bIns="0" rtlCol="0" anchor="ctr"/>
          <a:lstStyle/>
          <a:p>
            <a:pPr indent="0" marL="0">
              <a:buNone/>
            </a:pPr>
            <a:r>
              <a:rPr lang="en-US" sz="1100" dirty="0">
                <a:solidFill>
                  <a:srgbClr val="5D6F68"/>
                </a:solidFill>
                <a:latin typeface="Calibri" pitchFamily="34" charset="0"/>
                <a:ea typeface="Calibri" pitchFamily="34" charset="-122"/>
                <a:cs typeface="Calibri" pitchFamily="34" charset="-120"/>
              </a:rPr>
              <a:t>consultation data on our server</a:t>
            </a:r>
            <a:endParaRPr lang="en-US" sz="1100" dirty="0"/>
          </a:p>
        </p:txBody>
      </p:sp>
      <p:sp>
        <p:nvSpPr>
          <p:cNvPr id="23" name="Text 21"/>
          <p:cNvSpPr txBox="1"/>
          <p:nvPr/>
        </p:nvSpPr>
        <p:spPr>
          <a:xfrm>
            <a:off x="566928" y="5559552"/>
            <a:ext cx="11057839" cy="640080"/>
          </a:xfrm>
          <a:prstGeom prst="rect">
            <a:avLst/>
          </a:prstGeom>
          <a:noFill/>
          <a:ln/>
        </p:spPr>
        <p:txBody>
          <a:bodyPr wrap="square" lIns="0" tIns="0" rIns="0" bIns="0" rtlCol="0" anchor="t"/>
          <a:lstStyle/>
          <a:p>
            <a:pPr indent="0" marL="0">
              <a:lnSpc>
                <a:spcPts val="1650"/>
              </a:lnSpc>
              <a:buNone/>
            </a:pPr>
            <a:r>
              <a:rPr lang="en-US" sz="1250" dirty="0">
                <a:solidFill>
                  <a:srgbClr val="5D6F68"/>
                </a:solidFill>
                <a:latin typeface="Calibri" pitchFamily="34" charset="0"/>
                <a:ea typeface="Calibri" pitchFamily="34" charset="-122"/>
                <a:cs typeface="Calibri" pitchFamily="34" charset="-120"/>
              </a:rPr>
              <a:t>It opens in any browser, on any phone, on whatever laptop the ward already owns. Add it to the home screen and it behaves like an app, with the sign videos stored on the device.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200" kern="0" dirty="0">
                <a:solidFill>
                  <a:srgbClr val="0A4A3A"/>
                </a:solidFill>
                <a:latin typeface="Calibri" pitchFamily="34" charset="0"/>
                <a:ea typeface="Calibri" pitchFamily="34" charset="-122"/>
                <a:cs typeface="Calibri" pitchFamily="34" charset="-120"/>
              </a:rPr>
              <a:t>INSTRUCTION 3 · WHAT IS REAL</a:t>
            </a:r>
            <a:endParaRPr lang="en-US" sz="1100" dirty="0"/>
          </a:p>
        </p:txBody>
      </p:sp>
      <p:sp>
        <p:nvSpPr>
          <p:cNvPr id="3" name="Text 1"/>
          <p:cNvSpPr txBox="1"/>
          <p:nvPr/>
        </p:nvSpPr>
        <p:spPr>
          <a:xfrm>
            <a:off x="566928" y="640080"/>
            <a:ext cx="11057839" cy="658368"/>
          </a:xfrm>
          <a:prstGeom prst="rect">
            <a:avLst/>
          </a:prstGeom>
          <a:noFill/>
          <a:ln/>
        </p:spPr>
        <p:txBody>
          <a:bodyPr wrap="square" lIns="0" tIns="0" rIns="0" bIns="0" rtlCol="0" anchor="ctr"/>
          <a:lstStyle/>
          <a:p>
            <a:pPr indent="0" marL="0">
              <a:buNone/>
            </a:pPr>
            <a:r>
              <a:rPr lang="en-US" sz="3400" b="1" dirty="0">
                <a:solidFill>
                  <a:srgbClr val="0F1F1A"/>
                </a:solidFill>
                <a:latin typeface="Cambria" pitchFamily="34" charset="0"/>
                <a:ea typeface="Cambria" pitchFamily="34" charset="-122"/>
                <a:cs typeface="Cambria" pitchFamily="34" charset="-120"/>
              </a:rPr>
              <a:t>Working today</a:t>
            </a:r>
            <a:endParaRPr lang="en-US" sz="3400" dirty="0"/>
          </a:p>
        </p:txBody>
      </p:sp>
      <p:sp>
        <p:nvSpPr>
          <p:cNvPr id="4" name="Text 2"/>
          <p:cNvSpPr txBox="1"/>
          <p:nvPr/>
        </p:nvSpPr>
        <p:spPr>
          <a:xfrm>
            <a:off x="566928" y="1335024"/>
            <a:ext cx="9960559" cy="384048"/>
          </a:xfrm>
          <a:prstGeom prst="rect">
            <a:avLst/>
          </a:prstGeom>
          <a:noFill/>
          <a:ln/>
        </p:spPr>
        <p:txBody>
          <a:bodyPr wrap="square" lIns="0" tIns="0" rIns="0" bIns="0" rtlCol="0" anchor="ctr"/>
          <a:lstStyle/>
          <a:p>
            <a:pPr indent="0" marL="0">
              <a:buNone/>
            </a:pPr>
            <a:r>
              <a:rPr lang="en-US" sz="1400" dirty="0">
                <a:solidFill>
                  <a:srgbClr val="5D6F68"/>
                </a:solidFill>
                <a:latin typeface="Calibri" pitchFamily="34" charset="0"/>
                <a:ea typeface="Calibri" pitchFamily="34" charset="-122"/>
                <a:cs typeface="Calibri" pitchFamily="34" charset="-120"/>
              </a:rPr>
              <a:t>Every item below runs in the build you are about to see. Nothing here is a mock-up.</a:t>
            </a:r>
            <a:endParaRPr lang="en-US" sz="1400" dirty="0"/>
          </a:p>
        </p:txBody>
      </p:sp>
      <p:sp>
        <p:nvSpPr>
          <p:cNvPr id="5" name="Text 3"/>
          <p:cNvSpPr txBox="1"/>
          <p:nvPr/>
        </p:nvSpPr>
        <p:spPr>
          <a:xfrm>
            <a:off x="566928" y="6382512"/>
            <a:ext cx="3657600" cy="237744"/>
          </a:xfrm>
          <a:prstGeom prst="rect">
            <a:avLst/>
          </a:prstGeom>
          <a:noFill/>
          <a:ln/>
        </p:spPr>
        <p:txBody>
          <a:bodyPr wrap="square" lIns="0" tIns="0" rIns="0" bIns="0" rtlCol="0" anchor="ctr"/>
          <a:lstStyle/>
          <a:p>
            <a:pPr indent="0" marL="0">
              <a:buNone/>
            </a:pPr>
            <a:r>
              <a:rPr lang="en-US" sz="950" dirty="0">
                <a:solidFill>
                  <a:srgbClr val="5D6F68"/>
                </a:solidFill>
                <a:latin typeface="Calibri" pitchFamily="34" charset="0"/>
                <a:ea typeface="Calibri" pitchFamily="34" charset="-122"/>
                <a:cs typeface="Calibri" pitchFamily="34" charset="-120"/>
              </a:rPr>
              <a:t>Tie Me Ghana</a:t>
            </a:r>
            <a:endParaRPr lang="en-US" sz="950" dirty="0"/>
          </a:p>
        </p:txBody>
      </p:sp>
      <p:sp>
        <p:nvSpPr>
          <p:cNvPr id="6" name="Text 4"/>
          <p:cNvSpPr txBox="1"/>
          <p:nvPr/>
        </p:nvSpPr>
        <p:spPr>
          <a:xfrm>
            <a:off x="10710367" y="6382512"/>
            <a:ext cx="914400" cy="237744"/>
          </a:xfrm>
          <a:prstGeom prst="rect">
            <a:avLst/>
          </a:prstGeom>
          <a:noFill/>
          <a:ln/>
        </p:spPr>
        <p:txBody>
          <a:bodyPr wrap="square" lIns="0" tIns="0" rIns="0" bIns="0" rtlCol="0" anchor="ctr"/>
          <a:lstStyle/>
          <a:p>
            <a:pPr algn="r" indent="0" marL="0">
              <a:buNone/>
            </a:pPr>
            <a:r>
              <a:rPr lang="en-US" sz="950" dirty="0">
                <a:solidFill>
                  <a:srgbClr val="5D6F68"/>
                </a:solidFill>
                <a:latin typeface="Calibri" pitchFamily="34" charset="0"/>
                <a:ea typeface="Calibri" pitchFamily="34" charset="-122"/>
                <a:cs typeface="Calibri" pitchFamily="34" charset="-120"/>
              </a:rPr>
              <a:t>4</a:t>
            </a:r>
            <a:endParaRPr lang="en-US" sz="950" dirty="0"/>
          </a:p>
        </p:txBody>
      </p:sp>
      <p:sp>
        <p:nvSpPr>
          <p:cNvPr id="7" name="Shape 5"/>
          <p:cNvSpPr/>
          <p:nvPr/>
        </p:nvSpPr>
        <p:spPr>
          <a:xfrm>
            <a:off x="566928" y="1965960"/>
            <a:ext cx="5413248" cy="3730752"/>
          </a:xfrm>
          <a:prstGeom prst="roundRect">
            <a:avLst>
              <a:gd name="adj" fmla="val 1961"/>
            </a:avLst>
          </a:prstGeom>
          <a:solidFill>
            <a:srgbClr val="F4F8F6"/>
          </a:solidFill>
          <a:ln w="12700">
            <a:solidFill>
              <a:srgbClr val="D8E2DE"/>
            </a:solidFill>
            <a:prstDash val="solid"/>
          </a:ln>
        </p:spPr>
      </p:sp>
      <p:sp>
        <p:nvSpPr>
          <p:cNvPr id="8" name="Shape 6"/>
          <p:cNvSpPr/>
          <p:nvPr/>
        </p:nvSpPr>
        <p:spPr>
          <a:xfrm>
            <a:off x="6217920" y="1965960"/>
            <a:ext cx="5413248" cy="3730752"/>
          </a:xfrm>
          <a:prstGeom prst="roundRect">
            <a:avLst>
              <a:gd name="adj" fmla="val 1961"/>
            </a:avLst>
          </a:prstGeom>
          <a:solidFill>
            <a:srgbClr val="F4F8F6"/>
          </a:solidFill>
          <a:ln w="12700">
            <a:solidFill>
              <a:srgbClr val="D8E2DE"/>
            </a:solidFill>
            <a:prstDash val="solid"/>
          </a:ln>
        </p:spPr>
      </p:sp>
      <p:sp>
        <p:nvSpPr>
          <p:cNvPr id="9" name="Shape 7"/>
          <p:cNvSpPr/>
          <p:nvPr/>
        </p:nvSpPr>
        <p:spPr>
          <a:xfrm>
            <a:off x="822960" y="2194560"/>
            <a:ext cx="1298448" cy="256032"/>
          </a:xfrm>
          <a:prstGeom prst="roundRect">
            <a:avLst>
              <a:gd name="adj" fmla="val 50000"/>
            </a:avLst>
          </a:prstGeom>
          <a:solidFill>
            <a:srgbClr val="0B3D2E"/>
          </a:solidFill>
          <a:ln/>
        </p:spPr>
      </p:sp>
      <p:sp>
        <p:nvSpPr>
          <p:cNvPr id="10" name="Text 8"/>
          <p:cNvSpPr txBox="1"/>
          <p:nvPr/>
        </p:nvSpPr>
        <p:spPr>
          <a:xfrm>
            <a:off x="822960" y="2194560"/>
            <a:ext cx="1298448" cy="256032"/>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WORKING NOW</a:t>
            </a:r>
            <a:endParaRPr lang="en-US" sz="900" dirty="0"/>
          </a:p>
        </p:txBody>
      </p:sp>
      <p:sp>
        <p:nvSpPr>
          <p:cNvPr id="11" name="Shape 9"/>
          <p:cNvSpPr/>
          <p:nvPr/>
        </p:nvSpPr>
        <p:spPr>
          <a:xfrm>
            <a:off x="6473952" y="2194560"/>
            <a:ext cx="1298448" cy="256032"/>
          </a:xfrm>
          <a:prstGeom prst="roundRect">
            <a:avLst>
              <a:gd name="adj" fmla="val 50000"/>
            </a:avLst>
          </a:prstGeom>
          <a:solidFill>
            <a:srgbClr val="0B3D2E"/>
          </a:solidFill>
          <a:ln/>
        </p:spPr>
      </p:sp>
      <p:sp>
        <p:nvSpPr>
          <p:cNvPr id="12" name="Text 10"/>
          <p:cNvSpPr txBox="1"/>
          <p:nvPr/>
        </p:nvSpPr>
        <p:spPr>
          <a:xfrm>
            <a:off x="6473952" y="2194560"/>
            <a:ext cx="1298448" cy="256032"/>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WORKING NOW</a:t>
            </a:r>
            <a:endParaRPr lang="en-US" sz="900" dirty="0"/>
          </a:p>
        </p:txBody>
      </p:sp>
      <p:sp>
        <p:nvSpPr>
          <p:cNvPr id="13" name="Text 11"/>
          <p:cNvSpPr txBox="1"/>
          <p:nvPr/>
        </p:nvSpPr>
        <p:spPr>
          <a:xfrm>
            <a:off x="822960" y="2670048"/>
            <a:ext cx="4901184" cy="290779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F1F1A"/>
                </a:solidFill>
                <a:latin typeface="Calibri" pitchFamily="34" charset="0"/>
                <a:ea typeface="Calibri" pitchFamily="34" charset="-122"/>
                <a:cs typeface="Calibri" pitchFamily="34" charset="-120"/>
              </a:rPr>
              <a:t>Doctor speaks or types. The sentence is captioned in Twi and played as GhSL sign video.</a:t>
            </a:r>
            <a:endParaRPr lang="en-US" sz="1300" dirty="0"/>
          </a:p>
          <a:p>
            <a:pPr marL="342900" indent="-342900">
              <a:spcAft>
                <a:spcPts val="600"/>
              </a:spcAft>
              <a:buSzPct val="100000"/>
              <a:buChar char="•"/>
            </a:pPr>
            <a:r>
              <a:rPr lang="en-US" sz="1300" dirty="0">
                <a:solidFill>
                  <a:srgbClr val="0F1F1A"/>
                </a:solidFill>
                <a:latin typeface="Calibri" pitchFamily="34" charset="0"/>
                <a:ea typeface="Calibri" pitchFamily="34" charset="-122"/>
                <a:cs typeface="Calibri" pitchFamily="34" charset="-120"/>
              </a:rPr>
              <a:t>The literacy question is asked in sign, on the patient's own phone, before anything else.</a:t>
            </a:r>
            <a:endParaRPr lang="en-US" sz="1300" dirty="0"/>
          </a:p>
          <a:p>
            <a:pPr marL="342900" indent="-342900">
              <a:spcAft>
                <a:spcPts val="600"/>
              </a:spcAft>
              <a:buSzPct val="100000"/>
              <a:buChar char="•"/>
            </a:pPr>
            <a:r>
              <a:rPr lang="en-US" sz="1300" dirty="0">
                <a:solidFill>
                  <a:srgbClr val="0F1F1A"/>
                </a:solidFill>
                <a:latin typeface="Calibri" pitchFamily="34" charset="0"/>
                <a:ea typeface="Calibri" pitchFamily="34" charset="-122"/>
                <a:cs typeface="Calibri" pitchFamily="34" charset="-120"/>
              </a:rPr>
              <a:t>Guided Interrogation: the doctor taps a question, the patient answers Yes or No in sign.</a:t>
            </a:r>
            <a:endParaRPr lang="en-US" sz="1300" dirty="0"/>
          </a:p>
          <a:p>
            <a:pPr marL="342900" indent="-342900">
              <a:spcAft>
                <a:spcPts val="600"/>
              </a:spcAft>
              <a:buSzPct val="100000"/>
              <a:buChar char="•"/>
            </a:pPr>
            <a:r>
              <a:rPr lang="en-US" sz="1300" dirty="0">
                <a:solidFill>
                  <a:srgbClr val="0F1F1A"/>
                </a:solidFill>
                <a:latin typeface="Calibri" pitchFamily="34" charset="0"/>
                <a:ea typeface="Calibri" pitchFamily="34" charset="-122"/>
                <a:cs typeface="Calibri" pitchFamily="34" charset="-120"/>
              </a:rPr>
              <a:t>The patient types a reply and the doctor's device speaks it out loud.</a:t>
            </a:r>
            <a:endParaRPr lang="en-US" sz="1300" dirty="0"/>
          </a:p>
        </p:txBody>
      </p:sp>
      <p:sp>
        <p:nvSpPr>
          <p:cNvPr id="14" name="Text 12"/>
          <p:cNvSpPr txBox="1"/>
          <p:nvPr/>
        </p:nvSpPr>
        <p:spPr>
          <a:xfrm>
            <a:off x="6473952" y="2670048"/>
            <a:ext cx="4901184" cy="290779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F1F1A"/>
                </a:solidFill>
                <a:latin typeface="Calibri" pitchFamily="34" charset="0"/>
                <a:ea typeface="Calibri" pitchFamily="34" charset="-122"/>
                <a:cs typeface="Calibri" pitchFamily="34" charset="-120"/>
              </a:rPr>
              <a:t>Emergency triage: four critical alerts, a body drawing and a pain scale, mirrored to her phone.</a:t>
            </a:r>
            <a:endParaRPr lang="en-US" sz="1300" dirty="0"/>
          </a:p>
          <a:p>
            <a:pPr marL="342900" indent="-342900">
              <a:spcAft>
                <a:spcPts val="600"/>
              </a:spcAft>
              <a:buSzPct val="100000"/>
              <a:buChar char="•"/>
            </a:pPr>
            <a:r>
              <a:rPr lang="en-US" sz="1300" dirty="0">
                <a:solidFill>
                  <a:srgbClr val="0F1F1A"/>
                </a:solidFill>
                <a:latin typeface="Calibri" pitchFamily="34" charset="0"/>
                <a:ea typeface="Calibri" pitchFamily="34" charset="-122"/>
                <a:cs typeface="Calibri" pitchFamily="34" charset="-120"/>
              </a:rPr>
              <a:t>Prescription as sign video plus a QR code, saved to the patient's phone and played offline.</a:t>
            </a:r>
            <a:endParaRPr lang="en-US" sz="1300" dirty="0"/>
          </a:p>
          <a:p>
            <a:pPr marL="342900" indent="-342900">
              <a:spcAft>
                <a:spcPts val="600"/>
              </a:spcAft>
              <a:buSzPct val="100000"/>
              <a:buChar char="•"/>
            </a:pPr>
            <a:r>
              <a:rPr lang="en-US" sz="1300" dirty="0">
                <a:solidFill>
                  <a:srgbClr val="0F1F1A"/>
                </a:solidFill>
                <a:latin typeface="Calibri" pitchFamily="34" charset="0"/>
                <a:ea typeface="Calibri" pitchFamily="34" charset="-122"/>
                <a:cs typeface="Calibri" pitchFamily="34" charset="-120"/>
              </a:rPr>
              <a:t>The safety gate refuses any sentence it cannot sign correctly, and names the missing word.</a:t>
            </a:r>
            <a:endParaRPr lang="en-US" sz="1300" dirty="0"/>
          </a:p>
          <a:p>
            <a:pPr marL="342900" indent="-342900">
              <a:spcAft>
                <a:spcPts val="600"/>
              </a:spcAft>
              <a:buSzPct val="100000"/>
              <a:buChar char="•"/>
            </a:pPr>
            <a:r>
              <a:rPr lang="en-US" sz="1300" dirty="0">
                <a:solidFill>
                  <a:srgbClr val="0F1F1A"/>
                </a:solidFill>
                <a:latin typeface="Calibri" pitchFamily="34" charset="0"/>
                <a:ea typeface="Calibri" pitchFamily="34" charset="-122"/>
                <a:cs typeface="Calibri" pitchFamily="34" charset="-120"/>
              </a:rPr>
              <a:t>Session transcript kept on each device. Pairing survives a reload of either phone.</a:t>
            </a:r>
            <a:endParaRPr lang="en-US" sz="1300" dirty="0"/>
          </a:p>
        </p:txBody>
      </p:sp>
      <p:sp>
        <p:nvSpPr>
          <p:cNvPr id="15" name="Text 13"/>
          <p:cNvSpPr txBox="1"/>
          <p:nvPr/>
        </p:nvSpPr>
        <p:spPr>
          <a:xfrm>
            <a:off x="566928" y="5870448"/>
            <a:ext cx="11057839" cy="548640"/>
          </a:xfrm>
          <a:prstGeom prst="rect">
            <a:avLst/>
          </a:prstGeom>
          <a:noFill/>
          <a:ln/>
        </p:spPr>
        <p:txBody>
          <a:bodyPr wrap="square" lIns="0" tIns="0" rIns="0" bIns="0" rtlCol="0" anchor="t"/>
          <a:lstStyle/>
          <a:p>
            <a:pPr indent="0" marL="0">
              <a:lnSpc>
                <a:spcPts val="1650"/>
              </a:lnSpc>
              <a:buNone/>
            </a:pPr>
            <a:r>
              <a:rPr lang="en-US" sz="1250" dirty="0">
                <a:solidFill>
                  <a:srgbClr val="5D6F68"/>
                </a:solidFill>
                <a:latin typeface="Calibri" pitchFamily="34" charset="0"/>
                <a:ea typeface="Calibri" pitchFamily="34" charset="-122"/>
                <a:cs typeface="Calibri" pitchFamily="34" charset="-120"/>
              </a:rPr>
              <a:t>1,933 automated tests. 61 written architecture decisions, including the mistakes. Deployed and reachable right now, not running on this laptop.</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200" kern="0" dirty="0">
                <a:solidFill>
                  <a:srgbClr val="0A4A3A"/>
                </a:solidFill>
                <a:latin typeface="Calibri" pitchFamily="34" charset="0"/>
                <a:ea typeface="Calibri" pitchFamily="34" charset="-122"/>
                <a:cs typeface="Calibri" pitchFamily="34" charset="-120"/>
              </a:rPr>
              <a:t>INSTRUCTION 3 · WHAT IS NOT</a:t>
            </a:r>
            <a:endParaRPr lang="en-US" sz="1100" dirty="0"/>
          </a:p>
        </p:txBody>
      </p:sp>
      <p:sp>
        <p:nvSpPr>
          <p:cNvPr id="3" name="Text 1"/>
          <p:cNvSpPr txBox="1"/>
          <p:nvPr/>
        </p:nvSpPr>
        <p:spPr>
          <a:xfrm>
            <a:off x="566928" y="640080"/>
            <a:ext cx="11057839" cy="658368"/>
          </a:xfrm>
          <a:prstGeom prst="rect">
            <a:avLst/>
          </a:prstGeom>
          <a:noFill/>
          <a:ln/>
        </p:spPr>
        <p:txBody>
          <a:bodyPr wrap="square" lIns="0" tIns="0" rIns="0" bIns="0" rtlCol="0" anchor="ctr"/>
          <a:lstStyle/>
          <a:p>
            <a:pPr indent="0" marL="0">
              <a:buNone/>
            </a:pPr>
            <a:r>
              <a:rPr lang="en-US" sz="3400" b="1" dirty="0">
                <a:solidFill>
                  <a:srgbClr val="0F1F1A"/>
                </a:solidFill>
                <a:latin typeface="Cambria" pitchFamily="34" charset="0"/>
                <a:ea typeface="Cambria" pitchFamily="34" charset="-122"/>
                <a:cs typeface="Cambria" pitchFamily="34" charset="-120"/>
              </a:rPr>
              <a:t>Planned, and honestly not built</a:t>
            </a:r>
            <a:endParaRPr lang="en-US" sz="3400" dirty="0"/>
          </a:p>
        </p:txBody>
      </p:sp>
      <p:sp>
        <p:nvSpPr>
          <p:cNvPr id="4" name="Text 2"/>
          <p:cNvSpPr txBox="1"/>
          <p:nvPr/>
        </p:nvSpPr>
        <p:spPr>
          <a:xfrm>
            <a:off x="566928" y="1335024"/>
            <a:ext cx="9960559" cy="384048"/>
          </a:xfrm>
          <a:prstGeom prst="rect">
            <a:avLst/>
          </a:prstGeom>
          <a:noFill/>
          <a:ln/>
        </p:spPr>
        <p:txBody>
          <a:bodyPr wrap="square" lIns="0" tIns="0" rIns="0" bIns="0" rtlCol="0" anchor="ctr"/>
          <a:lstStyle/>
          <a:p>
            <a:pPr indent="0" marL="0">
              <a:buNone/>
            </a:pPr>
            <a:r>
              <a:rPr lang="en-US" sz="1400" dirty="0">
                <a:solidFill>
                  <a:srgbClr val="5D6F68"/>
                </a:solidFill>
                <a:latin typeface="Calibri" pitchFamily="34" charset="0"/>
                <a:ea typeface="Calibri" pitchFamily="34" charset="-122"/>
                <a:cs typeface="Calibri" pitchFamily="34" charset="-120"/>
              </a:rPr>
              <a:t>We would rather list these than have you find them.</a:t>
            </a:r>
            <a:endParaRPr lang="en-US" sz="1400" dirty="0"/>
          </a:p>
        </p:txBody>
      </p:sp>
      <p:sp>
        <p:nvSpPr>
          <p:cNvPr id="5" name="Text 3"/>
          <p:cNvSpPr txBox="1"/>
          <p:nvPr/>
        </p:nvSpPr>
        <p:spPr>
          <a:xfrm>
            <a:off x="566928" y="6382512"/>
            <a:ext cx="3657600" cy="237744"/>
          </a:xfrm>
          <a:prstGeom prst="rect">
            <a:avLst/>
          </a:prstGeom>
          <a:noFill/>
          <a:ln/>
        </p:spPr>
        <p:txBody>
          <a:bodyPr wrap="square" lIns="0" tIns="0" rIns="0" bIns="0" rtlCol="0" anchor="ctr"/>
          <a:lstStyle/>
          <a:p>
            <a:pPr indent="0" marL="0">
              <a:buNone/>
            </a:pPr>
            <a:r>
              <a:rPr lang="en-US" sz="950" dirty="0">
                <a:solidFill>
                  <a:srgbClr val="5D6F68"/>
                </a:solidFill>
                <a:latin typeface="Calibri" pitchFamily="34" charset="0"/>
                <a:ea typeface="Calibri" pitchFamily="34" charset="-122"/>
                <a:cs typeface="Calibri" pitchFamily="34" charset="-120"/>
              </a:rPr>
              <a:t>Tie Me Ghana</a:t>
            </a:r>
            <a:endParaRPr lang="en-US" sz="950" dirty="0"/>
          </a:p>
        </p:txBody>
      </p:sp>
      <p:sp>
        <p:nvSpPr>
          <p:cNvPr id="6" name="Text 4"/>
          <p:cNvSpPr txBox="1"/>
          <p:nvPr/>
        </p:nvSpPr>
        <p:spPr>
          <a:xfrm>
            <a:off x="10710367" y="6382512"/>
            <a:ext cx="914400" cy="237744"/>
          </a:xfrm>
          <a:prstGeom prst="rect">
            <a:avLst/>
          </a:prstGeom>
          <a:noFill/>
          <a:ln/>
        </p:spPr>
        <p:txBody>
          <a:bodyPr wrap="square" lIns="0" tIns="0" rIns="0" bIns="0" rtlCol="0" anchor="ctr"/>
          <a:lstStyle/>
          <a:p>
            <a:pPr algn="r" indent="0" marL="0">
              <a:buNone/>
            </a:pPr>
            <a:r>
              <a:rPr lang="en-US" sz="950" dirty="0">
                <a:solidFill>
                  <a:srgbClr val="5D6F68"/>
                </a:solidFill>
                <a:latin typeface="Calibri" pitchFamily="34" charset="0"/>
                <a:ea typeface="Calibri" pitchFamily="34" charset="-122"/>
                <a:cs typeface="Calibri" pitchFamily="34" charset="-120"/>
              </a:rPr>
              <a:t>5</a:t>
            </a:r>
            <a:endParaRPr lang="en-US" sz="950" dirty="0"/>
          </a:p>
        </p:txBody>
      </p:sp>
      <p:sp>
        <p:nvSpPr>
          <p:cNvPr id="7" name="Shape 5"/>
          <p:cNvSpPr/>
          <p:nvPr/>
        </p:nvSpPr>
        <p:spPr>
          <a:xfrm>
            <a:off x="566928" y="1993392"/>
            <a:ext cx="5413248" cy="1188720"/>
          </a:xfrm>
          <a:prstGeom prst="roundRect">
            <a:avLst>
              <a:gd name="adj" fmla="val 6154"/>
            </a:avLst>
          </a:prstGeom>
          <a:solidFill>
            <a:srgbClr val="FDF6E7"/>
          </a:solidFill>
          <a:ln w="12700">
            <a:solidFill>
              <a:srgbClr val="EBD9B4"/>
            </a:solidFill>
            <a:prstDash val="solid"/>
          </a:ln>
        </p:spPr>
      </p:sp>
      <p:sp>
        <p:nvSpPr>
          <p:cNvPr id="8" name="Text 6"/>
          <p:cNvSpPr txBox="1"/>
          <p:nvPr/>
        </p:nvSpPr>
        <p:spPr>
          <a:xfrm>
            <a:off x="804672" y="2139696"/>
            <a:ext cx="3749040" cy="274320"/>
          </a:xfrm>
          <a:prstGeom prst="rect">
            <a:avLst/>
          </a:prstGeom>
          <a:noFill/>
          <a:ln/>
        </p:spPr>
        <p:txBody>
          <a:bodyPr wrap="square" lIns="0" tIns="0" rIns="0" bIns="0" rtlCol="0" anchor="ctr"/>
          <a:lstStyle/>
          <a:p>
            <a:pPr indent="0" marL="0">
              <a:buNone/>
            </a:pPr>
            <a:r>
              <a:rPr lang="en-US" sz="1300" b="1" dirty="0">
                <a:solidFill>
                  <a:srgbClr val="B26A00"/>
                </a:solidFill>
                <a:latin typeface="Cambria" pitchFamily="34" charset="0"/>
                <a:ea typeface="Cambria" pitchFamily="34" charset="-122"/>
                <a:cs typeface="Cambria" pitchFamily="34" charset="-120"/>
              </a:rPr>
              <a:t>Fingerspelling</a:t>
            </a:r>
            <a:endParaRPr lang="en-US" sz="1300" dirty="0"/>
          </a:p>
        </p:txBody>
      </p:sp>
      <p:sp>
        <p:nvSpPr>
          <p:cNvPr id="9" name="Text 7"/>
          <p:cNvSpPr txBox="1"/>
          <p:nvPr/>
        </p:nvSpPr>
        <p:spPr>
          <a:xfrm>
            <a:off x="804672" y="2468880"/>
            <a:ext cx="4937760" cy="658368"/>
          </a:xfrm>
          <a:prstGeom prst="rect">
            <a:avLst/>
          </a:prstGeom>
          <a:noFill/>
          <a:ln/>
        </p:spPr>
        <p:txBody>
          <a:bodyPr wrap="square" lIns="0" tIns="0" rIns="0" bIns="0" rtlCol="0" anchor="t"/>
          <a:lstStyle/>
          <a:p>
            <a:pPr indent="0" marL="0">
              <a:lnSpc>
                <a:spcPts val="1386"/>
              </a:lnSpc>
              <a:buNone/>
            </a:pPr>
            <a:r>
              <a:rPr lang="en-US" sz="1050" dirty="0">
                <a:solidFill>
                  <a:srgbClr val="5D6F68"/>
                </a:solidFill>
                <a:latin typeface="Calibri" pitchFamily="34" charset="0"/>
                <a:ea typeface="Calibri" pitchFamily="34" charset="-122"/>
                <a:cs typeface="Calibri" pitchFamily="34" charset="-120"/>
              </a:rPr>
              <a:t>9 of 26 letters filmed. Spelling a word needs every one of its letters, so the fallback stays off and a word with no sign stops the sentence instead.</a:t>
            </a:r>
            <a:endParaRPr lang="en-US" sz="1050" dirty="0"/>
          </a:p>
        </p:txBody>
      </p:sp>
      <p:sp>
        <p:nvSpPr>
          <p:cNvPr id="10" name="Shape 8"/>
          <p:cNvSpPr/>
          <p:nvPr/>
        </p:nvSpPr>
        <p:spPr>
          <a:xfrm>
            <a:off x="4608576" y="2130552"/>
            <a:ext cx="1170432" cy="256032"/>
          </a:xfrm>
          <a:prstGeom prst="roundRect">
            <a:avLst>
              <a:gd name="adj" fmla="val 50000"/>
            </a:avLst>
          </a:prstGeom>
          <a:solidFill>
            <a:srgbClr val="B26A00"/>
          </a:solidFill>
          <a:ln/>
        </p:spPr>
      </p:sp>
      <p:sp>
        <p:nvSpPr>
          <p:cNvPr id="11" name="Text 9"/>
          <p:cNvSpPr txBox="1"/>
          <p:nvPr/>
        </p:nvSpPr>
        <p:spPr>
          <a:xfrm>
            <a:off x="4608576" y="2130552"/>
            <a:ext cx="1170432" cy="256032"/>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PLANNED</a:t>
            </a:r>
            <a:endParaRPr lang="en-US" sz="900" dirty="0"/>
          </a:p>
        </p:txBody>
      </p:sp>
      <p:sp>
        <p:nvSpPr>
          <p:cNvPr id="12" name="Shape 10"/>
          <p:cNvSpPr/>
          <p:nvPr/>
        </p:nvSpPr>
        <p:spPr>
          <a:xfrm>
            <a:off x="6217920" y="1993392"/>
            <a:ext cx="5413248" cy="1188720"/>
          </a:xfrm>
          <a:prstGeom prst="roundRect">
            <a:avLst>
              <a:gd name="adj" fmla="val 6154"/>
            </a:avLst>
          </a:prstGeom>
          <a:solidFill>
            <a:srgbClr val="FDF6E7"/>
          </a:solidFill>
          <a:ln w="12700">
            <a:solidFill>
              <a:srgbClr val="EBD9B4"/>
            </a:solidFill>
            <a:prstDash val="solid"/>
          </a:ln>
        </p:spPr>
      </p:sp>
      <p:sp>
        <p:nvSpPr>
          <p:cNvPr id="13" name="Text 11"/>
          <p:cNvSpPr txBox="1"/>
          <p:nvPr/>
        </p:nvSpPr>
        <p:spPr>
          <a:xfrm>
            <a:off x="6455664" y="2139696"/>
            <a:ext cx="3749040" cy="274320"/>
          </a:xfrm>
          <a:prstGeom prst="rect">
            <a:avLst/>
          </a:prstGeom>
          <a:noFill/>
          <a:ln/>
        </p:spPr>
        <p:txBody>
          <a:bodyPr wrap="square" lIns="0" tIns="0" rIns="0" bIns="0" rtlCol="0" anchor="ctr"/>
          <a:lstStyle/>
          <a:p>
            <a:pPr indent="0" marL="0">
              <a:buNone/>
            </a:pPr>
            <a:r>
              <a:rPr lang="en-US" sz="1300" b="1" dirty="0">
                <a:solidFill>
                  <a:srgbClr val="B26A00"/>
                </a:solidFill>
                <a:latin typeface="Cambria" pitchFamily="34" charset="0"/>
                <a:ea typeface="Cambria" pitchFamily="34" charset="-122"/>
                <a:cs typeface="Cambria" pitchFamily="34" charset="-120"/>
              </a:rPr>
              <a:t>Body-part grid in Guided mode</a:t>
            </a:r>
            <a:endParaRPr lang="en-US" sz="1300" dirty="0"/>
          </a:p>
        </p:txBody>
      </p:sp>
      <p:sp>
        <p:nvSpPr>
          <p:cNvPr id="14" name="Text 12"/>
          <p:cNvSpPr txBox="1"/>
          <p:nvPr/>
        </p:nvSpPr>
        <p:spPr>
          <a:xfrm>
            <a:off x="6455664" y="2468880"/>
            <a:ext cx="4937760" cy="658368"/>
          </a:xfrm>
          <a:prstGeom prst="rect">
            <a:avLst/>
          </a:prstGeom>
          <a:noFill/>
          <a:ln/>
        </p:spPr>
        <p:txBody>
          <a:bodyPr wrap="square" lIns="0" tIns="0" rIns="0" bIns="0" rtlCol="0" anchor="t"/>
          <a:lstStyle/>
          <a:p>
            <a:pPr indent="0" marL="0">
              <a:lnSpc>
                <a:spcPts val="1386"/>
              </a:lnSpc>
              <a:buNone/>
            </a:pPr>
            <a:r>
              <a:rPr lang="en-US" sz="1050" dirty="0">
                <a:solidFill>
                  <a:srgbClr val="5D6F68"/>
                </a:solidFill>
                <a:latin typeface="Calibri" pitchFamily="34" charset="0"/>
                <a:ea typeface="Calibri" pitchFamily="34" charset="-122"/>
                <a:cs typeface="Calibri" pitchFamily="34" charset="-120"/>
              </a:rPr>
              <a:t>0 of 16 filmed. The app hides the grid rather than offer three body parts when the pain is in a fourth — a wrong answer there looks exactly like a right one.</a:t>
            </a:r>
            <a:endParaRPr lang="en-US" sz="1050" dirty="0"/>
          </a:p>
        </p:txBody>
      </p:sp>
      <p:sp>
        <p:nvSpPr>
          <p:cNvPr id="15" name="Shape 13"/>
          <p:cNvSpPr/>
          <p:nvPr/>
        </p:nvSpPr>
        <p:spPr>
          <a:xfrm>
            <a:off x="10259568" y="2130552"/>
            <a:ext cx="1170432" cy="256032"/>
          </a:xfrm>
          <a:prstGeom prst="roundRect">
            <a:avLst>
              <a:gd name="adj" fmla="val 50000"/>
            </a:avLst>
          </a:prstGeom>
          <a:solidFill>
            <a:srgbClr val="B26A00"/>
          </a:solidFill>
          <a:ln/>
        </p:spPr>
      </p:sp>
      <p:sp>
        <p:nvSpPr>
          <p:cNvPr id="16" name="Text 14"/>
          <p:cNvSpPr txBox="1"/>
          <p:nvPr/>
        </p:nvSpPr>
        <p:spPr>
          <a:xfrm>
            <a:off x="10259568" y="2130552"/>
            <a:ext cx="1170432" cy="256032"/>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PLANNED</a:t>
            </a:r>
            <a:endParaRPr lang="en-US" sz="900" dirty="0"/>
          </a:p>
        </p:txBody>
      </p:sp>
      <p:sp>
        <p:nvSpPr>
          <p:cNvPr id="17" name="Shape 15"/>
          <p:cNvSpPr/>
          <p:nvPr/>
        </p:nvSpPr>
        <p:spPr>
          <a:xfrm>
            <a:off x="566928" y="3328416"/>
            <a:ext cx="5413248" cy="1188720"/>
          </a:xfrm>
          <a:prstGeom prst="roundRect">
            <a:avLst>
              <a:gd name="adj" fmla="val 6154"/>
            </a:avLst>
          </a:prstGeom>
          <a:solidFill>
            <a:srgbClr val="FDF6E7"/>
          </a:solidFill>
          <a:ln w="12700">
            <a:solidFill>
              <a:srgbClr val="EBD9B4"/>
            </a:solidFill>
            <a:prstDash val="solid"/>
          </a:ln>
        </p:spPr>
      </p:sp>
      <p:sp>
        <p:nvSpPr>
          <p:cNvPr id="18" name="Text 16"/>
          <p:cNvSpPr txBox="1"/>
          <p:nvPr/>
        </p:nvSpPr>
        <p:spPr>
          <a:xfrm>
            <a:off x="804672" y="3474720"/>
            <a:ext cx="3749040" cy="274320"/>
          </a:xfrm>
          <a:prstGeom prst="rect">
            <a:avLst/>
          </a:prstGeom>
          <a:noFill/>
          <a:ln/>
        </p:spPr>
        <p:txBody>
          <a:bodyPr wrap="square" lIns="0" tIns="0" rIns="0" bIns="0" rtlCol="0" anchor="ctr"/>
          <a:lstStyle/>
          <a:p>
            <a:pPr indent="0" marL="0">
              <a:buNone/>
            </a:pPr>
            <a:r>
              <a:rPr lang="en-US" sz="1300" b="1" dirty="0">
                <a:solidFill>
                  <a:srgbClr val="B26A00"/>
                </a:solidFill>
                <a:latin typeface="Cambria" pitchFamily="34" charset="0"/>
                <a:ea typeface="Cambria" pitchFamily="34" charset="-122"/>
                <a:cs typeface="Cambria" pitchFamily="34" charset="-120"/>
              </a:rPr>
              <a:t>Clinical sign-off</a:t>
            </a:r>
            <a:endParaRPr lang="en-US" sz="1300" dirty="0"/>
          </a:p>
        </p:txBody>
      </p:sp>
      <p:sp>
        <p:nvSpPr>
          <p:cNvPr id="19" name="Text 17"/>
          <p:cNvSpPr txBox="1"/>
          <p:nvPr/>
        </p:nvSpPr>
        <p:spPr>
          <a:xfrm>
            <a:off x="804672" y="3803904"/>
            <a:ext cx="4937760" cy="658368"/>
          </a:xfrm>
          <a:prstGeom prst="rect">
            <a:avLst/>
          </a:prstGeom>
          <a:noFill/>
          <a:ln/>
        </p:spPr>
        <p:txBody>
          <a:bodyPr wrap="square" lIns="0" tIns="0" rIns="0" bIns="0" rtlCol="0" anchor="t"/>
          <a:lstStyle/>
          <a:p>
            <a:pPr indent="0" marL="0">
              <a:lnSpc>
                <a:spcPts val="1386"/>
              </a:lnSpc>
              <a:buNone/>
            </a:pPr>
            <a:r>
              <a:rPr lang="en-US" sz="1050" dirty="0">
                <a:solidFill>
                  <a:srgbClr val="5D6F68"/>
                </a:solidFill>
                <a:latin typeface="Calibri" pitchFamily="34" charset="0"/>
                <a:ea typeface="Calibri" pitchFamily="34" charset="-122"/>
                <a:cs typeface="Calibri" pitchFamily="34" charset="-120"/>
              </a:rPr>
              <a:t>The sign library and the word-safety lists need a GhSL consultant and a clinician. Until then it is a pilot, and every screen says so.</a:t>
            </a:r>
            <a:endParaRPr lang="en-US" sz="1050" dirty="0"/>
          </a:p>
        </p:txBody>
      </p:sp>
      <p:sp>
        <p:nvSpPr>
          <p:cNvPr id="20" name="Shape 18"/>
          <p:cNvSpPr/>
          <p:nvPr/>
        </p:nvSpPr>
        <p:spPr>
          <a:xfrm>
            <a:off x="4608576" y="3465576"/>
            <a:ext cx="1170432" cy="256032"/>
          </a:xfrm>
          <a:prstGeom prst="roundRect">
            <a:avLst>
              <a:gd name="adj" fmla="val 50000"/>
            </a:avLst>
          </a:prstGeom>
          <a:solidFill>
            <a:srgbClr val="B26A00"/>
          </a:solidFill>
          <a:ln/>
        </p:spPr>
      </p:sp>
      <p:sp>
        <p:nvSpPr>
          <p:cNvPr id="21" name="Text 19"/>
          <p:cNvSpPr txBox="1"/>
          <p:nvPr/>
        </p:nvSpPr>
        <p:spPr>
          <a:xfrm>
            <a:off x="4608576" y="3465576"/>
            <a:ext cx="1170432" cy="256032"/>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PLANNED</a:t>
            </a:r>
            <a:endParaRPr lang="en-US" sz="900" dirty="0"/>
          </a:p>
        </p:txBody>
      </p:sp>
      <p:sp>
        <p:nvSpPr>
          <p:cNvPr id="22" name="Shape 20"/>
          <p:cNvSpPr/>
          <p:nvPr/>
        </p:nvSpPr>
        <p:spPr>
          <a:xfrm>
            <a:off x="6217920" y="3328416"/>
            <a:ext cx="5413248" cy="1188720"/>
          </a:xfrm>
          <a:prstGeom prst="roundRect">
            <a:avLst>
              <a:gd name="adj" fmla="val 6154"/>
            </a:avLst>
          </a:prstGeom>
          <a:solidFill>
            <a:srgbClr val="FDF6E7"/>
          </a:solidFill>
          <a:ln w="12700">
            <a:solidFill>
              <a:srgbClr val="EBD9B4"/>
            </a:solidFill>
            <a:prstDash val="solid"/>
          </a:ln>
        </p:spPr>
      </p:sp>
      <p:sp>
        <p:nvSpPr>
          <p:cNvPr id="23" name="Text 21"/>
          <p:cNvSpPr txBox="1"/>
          <p:nvPr/>
        </p:nvSpPr>
        <p:spPr>
          <a:xfrm>
            <a:off x="6455664" y="3474720"/>
            <a:ext cx="3749040" cy="274320"/>
          </a:xfrm>
          <a:prstGeom prst="rect">
            <a:avLst/>
          </a:prstGeom>
          <a:noFill/>
          <a:ln/>
        </p:spPr>
        <p:txBody>
          <a:bodyPr wrap="square" lIns="0" tIns="0" rIns="0" bIns="0" rtlCol="0" anchor="ctr"/>
          <a:lstStyle/>
          <a:p>
            <a:pPr indent="0" marL="0">
              <a:buNone/>
            </a:pPr>
            <a:r>
              <a:rPr lang="en-US" sz="1300" b="1" dirty="0">
                <a:solidFill>
                  <a:srgbClr val="B26A00"/>
                </a:solidFill>
                <a:latin typeface="Cambria" pitchFamily="34" charset="0"/>
                <a:ea typeface="Cambria" pitchFamily="34" charset="-122"/>
                <a:cs typeface="Cambria" pitchFamily="34" charset="-120"/>
              </a:rPr>
              <a:t>Direct connection on closed networks</a:t>
            </a:r>
            <a:endParaRPr lang="en-US" sz="1300" dirty="0"/>
          </a:p>
        </p:txBody>
      </p:sp>
      <p:sp>
        <p:nvSpPr>
          <p:cNvPr id="24" name="Text 22"/>
          <p:cNvSpPr txBox="1"/>
          <p:nvPr/>
        </p:nvSpPr>
        <p:spPr>
          <a:xfrm>
            <a:off x="6455664" y="3803904"/>
            <a:ext cx="4937760" cy="658368"/>
          </a:xfrm>
          <a:prstGeom prst="rect">
            <a:avLst/>
          </a:prstGeom>
          <a:noFill/>
          <a:ln/>
        </p:spPr>
        <p:txBody>
          <a:bodyPr wrap="square" lIns="0" tIns="0" rIns="0" bIns="0" rtlCol="0" anchor="t"/>
          <a:lstStyle/>
          <a:p>
            <a:pPr indent="0" marL="0">
              <a:lnSpc>
                <a:spcPts val="1386"/>
              </a:lnSpc>
              <a:buNone/>
            </a:pPr>
            <a:r>
              <a:rPr lang="en-US" sz="1050" dirty="0">
                <a:solidFill>
                  <a:srgbClr val="5D6F68"/>
                </a:solidFill>
                <a:latin typeface="Calibri" pitchFamily="34" charset="0"/>
                <a:ea typeface="Calibri" pitchFamily="34" charset="-122"/>
                <a:cs typeface="Calibri" pitchFamily="34" charset="-120"/>
              </a:rPr>
              <a:t>No TURN server, so some hospital networks will refuse to pair two devices. The app says so and offers the one-screen mode instead of failing quietly.</a:t>
            </a:r>
            <a:endParaRPr lang="en-US" sz="1050" dirty="0"/>
          </a:p>
        </p:txBody>
      </p:sp>
      <p:sp>
        <p:nvSpPr>
          <p:cNvPr id="25" name="Shape 23"/>
          <p:cNvSpPr/>
          <p:nvPr/>
        </p:nvSpPr>
        <p:spPr>
          <a:xfrm>
            <a:off x="10259568" y="3465576"/>
            <a:ext cx="1170432" cy="256032"/>
          </a:xfrm>
          <a:prstGeom prst="roundRect">
            <a:avLst>
              <a:gd name="adj" fmla="val 50000"/>
            </a:avLst>
          </a:prstGeom>
          <a:solidFill>
            <a:srgbClr val="B26A00"/>
          </a:solidFill>
          <a:ln/>
        </p:spPr>
      </p:sp>
      <p:sp>
        <p:nvSpPr>
          <p:cNvPr id="26" name="Text 24"/>
          <p:cNvSpPr txBox="1"/>
          <p:nvPr/>
        </p:nvSpPr>
        <p:spPr>
          <a:xfrm>
            <a:off x="10259568" y="3465576"/>
            <a:ext cx="1170432" cy="256032"/>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PLANNED</a:t>
            </a:r>
            <a:endParaRPr lang="en-US" sz="900" dirty="0"/>
          </a:p>
        </p:txBody>
      </p:sp>
      <p:sp>
        <p:nvSpPr>
          <p:cNvPr id="27" name="Shape 25"/>
          <p:cNvSpPr/>
          <p:nvPr/>
        </p:nvSpPr>
        <p:spPr>
          <a:xfrm>
            <a:off x="566928" y="4663440"/>
            <a:ext cx="5413248" cy="1188720"/>
          </a:xfrm>
          <a:prstGeom prst="roundRect">
            <a:avLst>
              <a:gd name="adj" fmla="val 6154"/>
            </a:avLst>
          </a:prstGeom>
          <a:solidFill>
            <a:srgbClr val="FDF6E7"/>
          </a:solidFill>
          <a:ln w="12700">
            <a:solidFill>
              <a:srgbClr val="EBD9B4"/>
            </a:solidFill>
            <a:prstDash val="solid"/>
          </a:ln>
        </p:spPr>
      </p:sp>
      <p:sp>
        <p:nvSpPr>
          <p:cNvPr id="28" name="Text 26"/>
          <p:cNvSpPr txBox="1"/>
          <p:nvPr/>
        </p:nvSpPr>
        <p:spPr>
          <a:xfrm>
            <a:off x="804672" y="4809744"/>
            <a:ext cx="3749040" cy="274320"/>
          </a:xfrm>
          <a:prstGeom prst="rect">
            <a:avLst/>
          </a:prstGeom>
          <a:noFill/>
          <a:ln/>
        </p:spPr>
        <p:txBody>
          <a:bodyPr wrap="square" lIns="0" tIns="0" rIns="0" bIns="0" rtlCol="0" anchor="ctr"/>
          <a:lstStyle/>
          <a:p>
            <a:pPr indent="0" marL="0">
              <a:buNone/>
            </a:pPr>
            <a:r>
              <a:rPr lang="en-US" sz="1300" b="1" dirty="0">
                <a:solidFill>
                  <a:srgbClr val="B26A00"/>
                </a:solidFill>
                <a:latin typeface="Cambria" pitchFamily="34" charset="0"/>
                <a:ea typeface="Cambria" pitchFamily="34" charset="-122"/>
                <a:cs typeface="Cambria" pitchFamily="34" charset="-120"/>
              </a:rPr>
              <a:t>Ga and Ewe</a:t>
            </a:r>
            <a:endParaRPr lang="en-US" sz="1300" dirty="0"/>
          </a:p>
        </p:txBody>
      </p:sp>
      <p:sp>
        <p:nvSpPr>
          <p:cNvPr id="29" name="Text 27"/>
          <p:cNvSpPr txBox="1"/>
          <p:nvPr/>
        </p:nvSpPr>
        <p:spPr>
          <a:xfrm>
            <a:off x="804672" y="5138928"/>
            <a:ext cx="4937760" cy="658368"/>
          </a:xfrm>
          <a:prstGeom prst="rect">
            <a:avLst/>
          </a:prstGeom>
          <a:noFill/>
          <a:ln/>
        </p:spPr>
        <p:txBody>
          <a:bodyPr wrap="square" lIns="0" tIns="0" rIns="0" bIns="0" rtlCol="0" anchor="t"/>
          <a:lstStyle/>
          <a:p>
            <a:pPr indent="0" marL="0">
              <a:lnSpc>
                <a:spcPts val="1386"/>
              </a:lnSpc>
              <a:buNone/>
            </a:pPr>
            <a:r>
              <a:rPr lang="en-US" sz="1050" dirty="0">
                <a:solidFill>
                  <a:srgbClr val="5D6F68"/>
                </a:solidFill>
                <a:latin typeface="Calibri" pitchFamily="34" charset="0"/>
                <a:ea typeface="Calibri" pitchFamily="34" charset="-122"/>
                <a:cs typeface="Calibri" pitchFamily="34" charset="-120"/>
              </a:rPr>
              <a:t>The language layer is an interface and clip lookup is keyed on gloss, not on Twi, so it extends — but it is not built.</a:t>
            </a:r>
            <a:endParaRPr lang="en-US" sz="1050" dirty="0"/>
          </a:p>
        </p:txBody>
      </p:sp>
      <p:sp>
        <p:nvSpPr>
          <p:cNvPr id="30" name="Shape 28"/>
          <p:cNvSpPr/>
          <p:nvPr/>
        </p:nvSpPr>
        <p:spPr>
          <a:xfrm>
            <a:off x="4608576" y="4800600"/>
            <a:ext cx="1170432" cy="256032"/>
          </a:xfrm>
          <a:prstGeom prst="roundRect">
            <a:avLst>
              <a:gd name="adj" fmla="val 50000"/>
            </a:avLst>
          </a:prstGeom>
          <a:solidFill>
            <a:srgbClr val="B26A00"/>
          </a:solidFill>
          <a:ln/>
        </p:spPr>
      </p:sp>
      <p:sp>
        <p:nvSpPr>
          <p:cNvPr id="31" name="Text 29"/>
          <p:cNvSpPr txBox="1"/>
          <p:nvPr/>
        </p:nvSpPr>
        <p:spPr>
          <a:xfrm>
            <a:off x="4608576" y="4800600"/>
            <a:ext cx="1170432" cy="256032"/>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PLANNED</a:t>
            </a:r>
            <a:endParaRPr lang="en-US" sz="900" dirty="0"/>
          </a:p>
        </p:txBody>
      </p:sp>
      <p:sp>
        <p:nvSpPr>
          <p:cNvPr id="32" name="Shape 30"/>
          <p:cNvSpPr/>
          <p:nvPr/>
        </p:nvSpPr>
        <p:spPr>
          <a:xfrm>
            <a:off x="6217920" y="4663440"/>
            <a:ext cx="5413248" cy="1188720"/>
          </a:xfrm>
          <a:prstGeom prst="roundRect">
            <a:avLst>
              <a:gd name="adj" fmla="val 6154"/>
            </a:avLst>
          </a:prstGeom>
          <a:solidFill>
            <a:srgbClr val="FDF6E7"/>
          </a:solidFill>
          <a:ln w="12700">
            <a:solidFill>
              <a:srgbClr val="EBD9B4"/>
            </a:solidFill>
            <a:prstDash val="solid"/>
          </a:ln>
        </p:spPr>
      </p:sp>
      <p:sp>
        <p:nvSpPr>
          <p:cNvPr id="33" name="Text 31"/>
          <p:cNvSpPr txBox="1"/>
          <p:nvPr/>
        </p:nvSpPr>
        <p:spPr>
          <a:xfrm>
            <a:off x="6455664" y="4809744"/>
            <a:ext cx="3749040" cy="274320"/>
          </a:xfrm>
          <a:prstGeom prst="rect">
            <a:avLst/>
          </a:prstGeom>
          <a:noFill/>
          <a:ln/>
        </p:spPr>
        <p:txBody>
          <a:bodyPr wrap="square" lIns="0" tIns="0" rIns="0" bIns="0" rtlCol="0" anchor="ctr"/>
          <a:lstStyle/>
          <a:p>
            <a:pPr indent="0" marL="0">
              <a:buNone/>
            </a:pPr>
            <a:r>
              <a:rPr lang="en-US" sz="1300" b="1" dirty="0">
                <a:solidFill>
                  <a:srgbClr val="B26A00"/>
                </a:solidFill>
                <a:latin typeface="Cambria" pitchFamily="34" charset="0"/>
                <a:ea typeface="Cambria" pitchFamily="34" charset="-122"/>
                <a:cs typeface="Cambria" pitchFamily="34" charset="-120"/>
              </a:rPr>
              <a:t>Visual queue call</a:t>
            </a:r>
            <a:endParaRPr lang="en-US" sz="1300" dirty="0"/>
          </a:p>
        </p:txBody>
      </p:sp>
      <p:sp>
        <p:nvSpPr>
          <p:cNvPr id="34" name="Text 32"/>
          <p:cNvSpPr txBox="1"/>
          <p:nvPr/>
        </p:nvSpPr>
        <p:spPr>
          <a:xfrm>
            <a:off x="6455664" y="5138928"/>
            <a:ext cx="4937760" cy="658368"/>
          </a:xfrm>
          <a:prstGeom prst="rect">
            <a:avLst/>
          </a:prstGeom>
          <a:noFill/>
          <a:ln/>
        </p:spPr>
        <p:txBody>
          <a:bodyPr wrap="square" lIns="0" tIns="0" rIns="0" bIns="0" rtlCol="0" anchor="t"/>
          <a:lstStyle/>
          <a:p>
            <a:pPr indent="0" marL="0">
              <a:lnSpc>
                <a:spcPts val="1386"/>
              </a:lnSpc>
              <a:buNone/>
            </a:pPr>
            <a:r>
              <a:rPr lang="en-US" sz="1050" dirty="0">
                <a:solidFill>
                  <a:srgbClr val="5D6F68"/>
                </a:solidFill>
                <a:latin typeface="Calibri" pitchFamily="34" charset="0"/>
                <a:ea typeface="Calibri" pitchFamily="34" charset="-122"/>
                <a:cs typeface="Calibri" pitchFamily="34" charset="-120"/>
              </a:rPr>
              <a:t>Designed against the vibration vocabulary already in the app. Not built.</a:t>
            </a:r>
            <a:endParaRPr lang="en-US" sz="1050" dirty="0"/>
          </a:p>
        </p:txBody>
      </p:sp>
      <p:sp>
        <p:nvSpPr>
          <p:cNvPr id="35" name="Shape 33"/>
          <p:cNvSpPr/>
          <p:nvPr/>
        </p:nvSpPr>
        <p:spPr>
          <a:xfrm>
            <a:off x="10259568" y="4800600"/>
            <a:ext cx="1170432" cy="256032"/>
          </a:xfrm>
          <a:prstGeom prst="roundRect">
            <a:avLst>
              <a:gd name="adj" fmla="val 50000"/>
            </a:avLst>
          </a:prstGeom>
          <a:solidFill>
            <a:srgbClr val="B26A00"/>
          </a:solidFill>
          <a:ln/>
        </p:spPr>
      </p:sp>
      <p:sp>
        <p:nvSpPr>
          <p:cNvPr id="36" name="Text 34"/>
          <p:cNvSpPr txBox="1"/>
          <p:nvPr/>
        </p:nvSpPr>
        <p:spPr>
          <a:xfrm>
            <a:off x="10259568" y="4800600"/>
            <a:ext cx="1170432" cy="256032"/>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PLANNED</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200" kern="0" dirty="0">
                <a:solidFill>
                  <a:srgbClr val="0A4A3A"/>
                </a:solidFill>
                <a:latin typeface="Calibri" pitchFamily="34" charset="0"/>
                <a:ea typeface="Calibri" pitchFamily="34" charset="-122"/>
                <a:cs typeface="Calibri" pitchFamily="34" charset="-120"/>
              </a:rPr>
              <a:t>THE DEMO</a:t>
            </a:r>
            <a:endParaRPr lang="en-US" sz="1100" dirty="0"/>
          </a:p>
        </p:txBody>
      </p:sp>
      <p:sp>
        <p:nvSpPr>
          <p:cNvPr id="3" name="Text 1"/>
          <p:cNvSpPr txBox="1"/>
          <p:nvPr/>
        </p:nvSpPr>
        <p:spPr>
          <a:xfrm>
            <a:off x="566928" y="640080"/>
            <a:ext cx="11057839" cy="658368"/>
          </a:xfrm>
          <a:prstGeom prst="rect">
            <a:avLst/>
          </a:prstGeom>
          <a:noFill/>
          <a:ln/>
        </p:spPr>
        <p:txBody>
          <a:bodyPr wrap="square" lIns="0" tIns="0" rIns="0" bIns="0" rtlCol="0" anchor="ctr"/>
          <a:lstStyle/>
          <a:p>
            <a:pPr indent="0" marL="0">
              <a:buNone/>
            </a:pPr>
            <a:r>
              <a:rPr lang="en-US" sz="3400" b="1" dirty="0">
                <a:solidFill>
                  <a:srgbClr val="0F1F1A"/>
                </a:solidFill>
                <a:latin typeface="Cambria" pitchFamily="34" charset="0"/>
                <a:ea typeface="Cambria" pitchFamily="34" charset="-122"/>
                <a:cs typeface="Cambria" pitchFamily="34" charset="-120"/>
              </a:rPr>
              <a:t>Ten minutes, in this order</a:t>
            </a:r>
            <a:endParaRPr lang="en-US" sz="3400" dirty="0"/>
          </a:p>
        </p:txBody>
      </p:sp>
      <p:sp>
        <p:nvSpPr>
          <p:cNvPr id="4" name="Text 2"/>
          <p:cNvSpPr txBox="1"/>
          <p:nvPr/>
        </p:nvSpPr>
        <p:spPr>
          <a:xfrm>
            <a:off x="566928" y="1335024"/>
            <a:ext cx="9960559" cy="384048"/>
          </a:xfrm>
          <a:prstGeom prst="rect">
            <a:avLst/>
          </a:prstGeom>
          <a:noFill/>
          <a:ln/>
        </p:spPr>
        <p:txBody>
          <a:bodyPr wrap="square" lIns="0" tIns="0" rIns="0" bIns="0" rtlCol="0" anchor="ctr"/>
          <a:lstStyle/>
          <a:p>
            <a:pPr indent="0" marL="0">
              <a:buNone/>
            </a:pPr>
            <a:r>
              <a:rPr lang="en-US" sz="1400" dirty="0">
                <a:solidFill>
                  <a:srgbClr val="5D6F68"/>
                </a:solidFill>
                <a:latin typeface="Calibri" pitchFamily="34" charset="0"/>
                <a:ea typeface="Calibri" pitchFamily="34" charset="-122"/>
                <a:cs typeface="Calibri" pitchFamily="34" charset="-120"/>
              </a:rPr>
              <a:t>Screens 1 to 9. Times are budgets, not targets.</a:t>
            </a:r>
            <a:endParaRPr lang="en-US" sz="1400" dirty="0"/>
          </a:p>
        </p:txBody>
      </p:sp>
      <p:sp>
        <p:nvSpPr>
          <p:cNvPr id="5" name="Text 3"/>
          <p:cNvSpPr txBox="1"/>
          <p:nvPr/>
        </p:nvSpPr>
        <p:spPr>
          <a:xfrm>
            <a:off x="566928" y="6382512"/>
            <a:ext cx="3657600" cy="237744"/>
          </a:xfrm>
          <a:prstGeom prst="rect">
            <a:avLst/>
          </a:prstGeom>
          <a:noFill/>
          <a:ln/>
        </p:spPr>
        <p:txBody>
          <a:bodyPr wrap="square" lIns="0" tIns="0" rIns="0" bIns="0" rtlCol="0" anchor="ctr"/>
          <a:lstStyle/>
          <a:p>
            <a:pPr indent="0" marL="0">
              <a:buNone/>
            </a:pPr>
            <a:r>
              <a:rPr lang="en-US" sz="950" dirty="0">
                <a:solidFill>
                  <a:srgbClr val="5D6F68"/>
                </a:solidFill>
                <a:latin typeface="Calibri" pitchFamily="34" charset="0"/>
                <a:ea typeface="Calibri" pitchFamily="34" charset="-122"/>
                <a:cs typeface="Calibri" pitchFamily="34" charset="-120"/>
              </a:rPr>
              <a:t>Tie Me Ghana</a:t>
            </a:r>
            <a:endParaRPr lang="en-US" sz="950" dirty="0"/>
          </a:p>
        </p:txBody>
      </p:sp>
      <p:sp>
        <p:nvSpPr>
          <p:cNvPr id="6" name="Text 4"/>
          <p:cNvSpPr txBox="1"/>
          <p:nvPr/>
        </p:nvSpPr>
        <p:spPr>
          <a:xfrm>
            <a:off x="10710367" y="6382512"/>
            <a:ext cx="914400" cy="237744"/>
          </a:xfrm>
          <a:prstGeom prst="rect">
            <a:avLst/>
          </a:prstGeom>
          <a:noFill/>
          <a:ln/>
        </p:spPr>
        <p:txBody>
          <a:bodyPr wrap="square" lIns="0" tIns="0" rIns="0" bIns="0" rtlCol="0" anchor="ctr"/>
          <a:lstStyle/>
          <a:p>
            <a:pPr algn="r" indent="0" marL="0">
              <a:buNone/>
            </a:pPr>
            <a:r>
              <a:rPr lang="en-US" sz="950" dirty="0">
                <a:solidFill>
                  <a:srgbClr val="5D6F68"/>
                </a:solidFill>
                <a:latin typeface="Calibri" pitchFamily="34" charset="0"/>
                <a:ea typeface="Calibri" pitchFamily="34" charset="-122"/>
                <a:cs typeface="Calibri" pitchFamily="34" charset="-120"/>
              </a:rPr>
              <a:t>6</a:t>
            </a:r>
            <a:endParaRPr lang="en-US" sz="950" dirty="0"/>
          </a:p>
        </p:txBody>
      </p:sp>
      <p:sp>
        <p:nvSpPr>
          <p:cNvPr id="7" name="Shape 5"/>
          <p:cNvSpPr/>
          <p:nvPr/>
        </p:nvSpPr>
        <p:spPr>
          <a:xfrm>
            <a:off x="566928" y="2057400"/>
            <a:ext cx="3529584" cy="1152144"/>
          </a:xfrm>
          <a:prstGeom prst="roundRect">
            <a:avLst>
              <a:gd name="adj" fmla="val 6349"/>
            </a:avLst>
          </a:prstGeom>
          <a:solidFill>
            <a:srgbClr val="F4F8F6"/>
          </a:solidFill>
          <a:ln w="12700">
            <a:solidFill>
              <a:srgbClr val="D8E2DE"/>
            </a:solidFill>
            <a:prstDash val="solid"/>
          </a:ln>
        </p:spPr>
      </p:sp>
      <p:sp>
        <p:nvSpPr>
          <p:cNvPr id="8" name="Shape 6"/>
          <p:cNvSpPr/>
          <p:nvPr/>
        </p:nvSpPr>
        <p:spPr>
          <a:xfrm>
            <a:off x="786384" y="2423160"/>
            <a:ext cx="384048" cy="384048"/>
          </a:xfrm>
          <a:prstGeom prst="ellipse">
            <a:avLst/>
          </a:prstGeom>
          <a:solidFill>
            <a:srgbClr val="0B3D2E"/>
          </a:solidFill>
          <a:ln/>
        </p:spPr>
      </p:sp>
      <p:sp>
        <p:nvSpPr>
          <p:cNvPr id="9" name="Text 7"/>
          <p:cNvSpPr txBox="1"/>
          <p:nvPr/>
        </p:nvSpPr>
        <p:spPr>
          <a:xfrm>
            <a:off x="786384" y="24231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316736" y="2276856"/>
            <a:ext cx="2103120" cy="713232"/>
          </a:xfrm>
          <a:prstGeom prst="rect">
            <a:avLst/>
          </a:prstGeom>
          <a:noFill/>
          <a:ln/>
        </p:spPr>
        <p:txBody>
          <a:bodyPr wrap="square" lIns="0" tIns="0" rIns="0" bIns="0" rtlCol="0" anchor="ctr"/>
          <a:lstStyle/>
          <a:p>
            <a:pPr indent="0" marL="0">
              <a:buNone/>
            </a:pPr>
            <a:r>
              <a:rPr lang="en-US" sz="1150" b="1" dirty="0">
                <a:solidFill>
                  <a:srgbClr val="0F1F1A"/>
                </a:solidFill>
                <a:latin typeface="Calibri" pitchFamily="34" charset="0"/>
                <a:ea typeface="Calibri" pitchFamily="34" charset="-122"/>
                <a:cs typeface="Calibri" pitchFamily="34" charset="-120"/>
              </a:rPr>
              <a:t>Does she have a phone?</a:t>
            </a:r>
            <a:endParaRPr lang="en-US" sz="1150" dirty="0"/>
          </a:p>
        </p:txBody>
      </p:sp>
      <p:sp>
        <p:nvSpPr>
          <p:cNvPr id="11" name="Text 9"/>
          <p:cNvSpPr txBox="1"/>
          <p:nvPr/>
        </p:nvSpPr>
        <p:spPr>
          <a:xfrm>
            <a:off x="3456432" y="2478024"/>
            <a:ext cx="457200" cy="274320"/>
          </a:xfrm>
          <a:prstGeom prst="rect">
            <a:avLst/>
          </a:prstGeom>
          <a:noFill/>
          <a:ln/>
        </p:spPr>
        <p:txBody>
          <a:bodyPr wrap="square" lIns="0" tIns="0" rIns="0" bIns="0" rtlCol="0" anchor="ctr"/>
          <a:lstStyle/>
          <a:p>
            <a:pPr algn="r" indent="0" marL="0">
              <a:buNone/>
            </a:pPr>
            <a:r>
              <a:rPr lang="en-US" sz="1000" b="1" dirty="0">
                <a:solidFill>
                  <a:srgbClr val="5D6F68"/>
                </a:solidFill>
                <a:latin typeface="Calibri" pitchFamily="34" charset="0"/>
                <a:ea typeface="Calibri" pitchFamily="34" charset="-122"/>
                <a:cs typeface="Calibri" pitchFamily="34" charset="-120"/>
              </a:rPr>
              <a:t>40s</a:t>
            </a:r>
            <a:endParaRPr lang="en-US" sz="1000" dirty="0"/>
          </a:p>
        </p:txBody>
      </p:sp>
      <p:sp>
        <p:nvSpPr>
          <p:cNvPr id="12" name="Shape 10"/>
          <p:cNvSpPr/>
          <p:nvPr/>
        </p:nvSpPr>
        <p:spPr>
          <a:xfrm>
            <a:off x="4334256" y="2057400"/>
            <a:ext cx="3529584" cy="1152144"/>
          </a:xfrm>
          <a:prstGeom prst="roundRect">
            <a:avLst>
              <a:gd name="adj" fmla="val 6349"/>
            </a:avLst>
          </a:prstGeom>
          <a:solidFill>
            <a:srgbClr val="F4F8F6"/>
          </a:solidFill>
          <a:ln w="12700">
            <a:solidFill>
              <a:srgbClr val="D8E2DE"/>
            </a:solidFill>
            <a:prstDash val="solid"/>
          </a:ln>
        </p:spPr>
      </p:sp>
      <p:sp>
        <p:nvSpPr>
          <p:cNvPr id="13" name="Shape 11"/>
          <p:cNvSpPr/>
          <p:nvPr/>
        </p:nvSpPr>
        <p:spPr>
          <a:xfrm>
            <a:off x="4553712" y="2423160"/>
            <a:ext cx="384048" cy="384048"/>
          </a:xfrm>
          <a:prstGeom prst="ellipse">
            <a:avLst/>
          </a:prstGeom>
          <a:solidFill>
            <a:srgbClr val="0B3D2E"/>
          </a:solidFill>
          <a:ln/>
        </p:spPr>
      </p:sp>
      <p:sp>
        <p:nvSpPr>
          <p:cNvPr id="14" name="Text 12"/>
          <p:cNvSpPr txBox="1"/>
          <p:nvPr/>
        </p:nvSpPr>
        <p:spPr>
          <a:xfrm>
            <a:off x="4553712" y="24231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5084064" y="2276856"/>
            <a:ext cx="2103120" cy="713232"/>
          </a:xfrm>
          <a:prstGeom prst="rect">
            <a:avLst/>
          </a:prstGeom>
          <a:noFill/>
          <a:ln/>
        </p:spPr>
        <p:txBody>
          <a:bodyPr wrap="square" lIns="0" tIns="0" rIns="0" bIns="0" rtlCol="0" anchor="ctr"/>
          <a:lstStyle/>
          <a:p>
            <a:pPr indent="0" marL="0">
              <a:buNone/>
            </a:pPr>
            <a:r>
              <a:rPr lang="en-US" sz="1150" b="1" dirty="0">
                <a:solidFill>
                  <a:srgbClr val="0F1F1A"/>
                </a:solidFill>
                <a:latin typeface="Calibri" pitchFamily="34" charset="0"/>
                <a:ea typeface="Calibri" pitchFamily="34" charset="-122"/>
                <a:cs typeface="Calibri" pitchFamily="34" charset="-120"/>
              </a:rPr>
              <a:t>Pair with a six letter code</a:t>
            </a:r>
            <a:endParaRPr lang="en-US" sz="1150" dirty="0"/>
          </a:p>
        </p:txBody>
      </p:sp>
      <p:sp>
        <p:nvSpPr>
          <p:cNvPr id="16" name="Text 14"/>
          <p:cNvSpPr txBox="1"/>
          <p:nvPr/>
        </p:nvSpPr>
        <p:spPr>
          <a:xfrm>
            <a:off x="7223760" y="2478024"/>
            <a:ext cx="457200" cy="274320"/>
          </a:xfrm>
          <a:prstGeom prst="rect">
            <a:avLst/>
          </a:prstGeom>
          <a:noFill/>
          <a:ln/>
        </p:spPr>
        <p:txBody>
          <a:bodyPr wrap="square" lIns="0" tIns="0" rIns="0" bIns="0" rtlCol="0" anchor="ctr"/>
          <a:lstStyle/>
          <a:p>
            <a:pPr algn="r" indent="0" marL="0">
              <a:buNone/>
            </a:pPr>
            <a:r>
              <a:rPr lang="en-US" sz="1000" b="1" dirty="0">
                <a:solidFill>
                  <a:srgbClr val="5D6F68"/>
                </a:solidFill>
                <a:latin typeface="Calibri" pitchFamily="34" charset="0"/>
                <a:ea typeface="Calibri" pitchFamily="34" charset="-122"/>
                <a:cs typeface="Calibri" pitchFamily="34" charset="-120"/>
              </a:rPr>
              <a:t>50s</a:t>
            </a:r>
            <a:endParaRPr lang="en-US" sz="1000" dirty="0"/>
          </a:p>
        </p:txBody>
      </p:sp>
      <p:sp>
        <p:nvSpPr>
          <p:cNvPr id="17" name="Shape 15"/>
          <p:cNvSpPr/>
          <p:nvPr/>
        </p:nvSpPr>
        <p:spPr>
          <a:xfrm>
            <a:off x="8101584" y="2057400"/>
            <a:ext cx="3529584" cy="1152144"/>
          </a:xfrm>
          <a:prstGeom prst="roundRect">
            <a:avLst>
              <a:gd name="adj" fmla="val 6349"/>
            </a:avLst>
          </a:prstGeom>
          <a:solidFill>
            <a:srgbClr val="F4F8F6"/>
          </a:solidFill>
          <a:ln w="12700">
            <a:solidFill>
              <a:srgbClr val="D8E2DE"/>
            </a:solidFill>
            <a:prstDash val="solid"/>
          </a:ln>
        </p:spPr>
      </p:sp>
      <p:sp>
        <p:nvSpPr>
          <p:cNvPr id="18" name="Shape 16"/>
          <p:cNvSpPr/>
          <p:nvPr/>
        </p:nvSpPr>
        <p:spPr>
          <a:xfrm>
            <a:off x="8321040" y="2423160"/>
            <a:ext cx="384048" cy="384048"/>
          </a:xfrm>
          <a:prstGeom prst="ellipse">
            <a:avLst/>
          </a:prstGeom>
          <a:solidFill>
            <a:srgbClr val="0B3D2E"/>
          </a:solidFill>
          <a:ln/>
        </p:spPr>
      </p:sp>
      <p:sp>
        <p:nvSpPr>
          <p:cNvPr id="19" name="Text 17"/>
          <p:cNvSpPr txBox="1"/>
          <p:nvPr/>
        </p:nvSpPr>
        <p:spPr>
          <a:xfrm>
            <a:off x="8321040" y="24231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8851392" y="2276856"/>
            <a:ext cx="2103120" cy="713232"/>
          </a:xfrm>
          <a:prstGeom prst="rect">
            <a:avLst/>
          </a:prstGeom>
          <a:noFill/>
          <a:ln/>
        </p:spPr>
        <p:txBody>
          <a:bodyPr wrap="square" lIns="0" tIns="0" rIns="0" bIns="0" rtlCol="0" anchor="ctr"/>
          <a:lstStyle/>
          <a:p>
            <a:pPr indent="0" marL="0">
              <a:buNone/>
            </a:pPr>
            <a:r>
              <a:rPr lang="en-US" sz="1150" b="1" dirty="0">
                <a:solidFill>
                  <a:srgbClr val="0F1F1A"/>
                </a:solidFill>
                <a:latin typeface="Calibri" pitchFamily="34" charset="0"/>
                <a:ea typeface="Calibri" pitchFamily="34" charset="-122"/>
                <a:cs typeface="Calibri" pitchFamily="34" charset="-120"/>
              </a:rPr>
              <a:t>Can she read? Asked in sign</a:t>
            </a:r>
            <a:endParaRPr lang="en-US" sz="1150" dirty="0"/>
          </a:p>
        </p:txBody>
      </p:sp>
      <p:sp>
        <p:nvSpPr>
          <p:cNvPr id="21" name="Text 19"/>
          <p:cNvSpPr txBox="1"/>
          <p:nvPr/>
        </p:nvSpPr>
        <p:spPr>
          <a:xfrm>
            <a:off x="10991088" y="2478024"/>
            <a:ext cx="457200" cy="274320"/>
          </a:xfrm>
          <a:prstGeom prst="rect">
            <a:avLst/>
          </a:prstGeom>
          <a:noFill/>
          <a:ln/>
        </p:spPr>
        <p:txBody>
          <a:bodyPr wrap="square" lIns="0" tIns="0" rIns="0" bIns="0" rtlCol="0" anchor="ctr"/>
          <a:lstStyle/>
          <a:p>
            <a:pPr algn="r" indent="0" marL="0">
              <a:buNone/>
            </a:pPr>
            <a:r>
              <a:rPr lang="en-US" sz="1000" b="1" dirty="0">
                <a:solidFill>
                  <a:srgbClr val="5D6F68"/>
                </a:solidFill>
                <a:latin typeface="Calibri" pitchFamily="34" charset="0"/>
                <a:ea typeface="Calibri" pitchFamily="34" charset="-122"/>
                <a:cs typeface="Calibri" pitchFamily="34" charset="-120"/>
              </a:rPr>
              <a:t>50s</a:t>
            </a:r>
            <a:endParaRPr lang="en-US" sz="1000" dirty="0"/>
          </a:p>
        </p:txBody>
      </p:sp>
      <p:sp>
        <p:nvSpPr>
          <p:cNvPr id="22" name="Shape 20"/>
          <p:cNvSpPr/>
          <p:nvPr/>
        </p:nvSpPr>
        <p:spPr>
          <a:xfrm>
            <a:off x="566928" y="3355848"/>
            <a:ext cx="3529584" cy="1152144"/>
          </a:xfrm>
          <a:prstGeom prst="roundRect">
            <a:avLst>
              <a:gd name="adj" fmla="val 6349"/>
            </a:avLst>
          </a:prstGeom>
          <a:solidFill>
            <a:srgbClr val="F4F8F6"/>
          </a:solidFill>
          <a:ln w="12700">
            <a:solidFill>
              <a:srgbClr val="D8E2DE"/>
            </a:solidFill>
            <a:prstDash val="solid"/>
          </a:ln>
        </p:spPr>
      </p:sp>
      <p:sp>
        <p:nvSpPr>
          <p:cNvPr id="23" name="Shape 21"/>
          <p:cNvSpPr/>
          <p:nvPr/>
        </p:nvSpPr>
        <p:spPr>
          <a:xfrm>
            <a:off x="786384" y="3721608"/>
            <a:ext cx="384048" cy="384048"/>
          </a:xfrm>
          <a:prstGeom prst="ellipse">
            <a:avLst/>
          </a:prstGeom>
          <a:solidFill>
            <a:srgbClr val="0B3D2E"/>
          </a:solidFill>
          <a:ln/>
        </p:spPr>
      </p:sp>
      <p:sp>
        <p:nvSpPr>
          <p:cNvPr id="24" name="Text 22"/>
          <p:cNvSpPr txBox="1"/>
          <p:nvPr/>
        </p:nvSpPr>
        <p:spPr>
          <a:xfrm>
            <a:off x="786384" y="372160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1316736" y="3575304"/>
            <a:ext cx="2103120" cy="713232"/>
          </a:xfrm>
          <a:prstGeom prst="rect">
            <a:avLst/>
          </a:prstGeom>
          <a:noFill/>
          <a:ln/>
        </p:spPr>
        <p:txBody>
          <a:bodyPr wrap="square" lIns="0" tIns="0" rIns="0" bIns="0" rtlCol="0" anchor="ctr"/>
          <a:lstStyle/>
          <a:p>
            <a:pPr indent="0" marL="0">
              <a:buNone/>
            </a:pPr>
            <a:r>
              <a:rPr lang="en-US" sz="1150" b="1" dirty="0">
                <a:solidFill>
                  <a:srgbClr val="0F1F1A"/>
                </a:solidFill>
                <a:latin typeface="Calibri" pitchFamily="34" charset="0"/>
                <a:ea typeface="Calibri" pitchFamily="34" charset="-122"/>
                <a:cs typeface="Calibri" pitchFamily="34" charset="-120"/>
              </a:rPr>
              <a:t>Guided questions, answered in sign</a:t>
            </a:r>
            <a:endParaRPr lang="en-US" sz="1150" dirty="0"/>
          </a:p>
        </p:txBody>
      </p:sp>
      <p:sp>
        <p:nvSpPr>
          <p:cNvPr id="26" name="Text 24"/>
          <p:cNvSpPr txBox="1"/>
          <p:nvPr/>
        </p:nvSpPr>
        <p:spPr>
          <a:xfrm>
            <a:off x="3456432" y="3776472"/>
            <a:ext cx="457200" cy="274320"/>
          </a:xfrm>
          <a:prstGeom prst="rect">
            <a:avLst/>
          </a:prstGeom>
          <a:noFill/>
          <a:ln/>
        </p:spPr>
        <p:txBody>
          <a:bodyPr wrap="square" lIns="0" tIns="0" rIns="0" bIns="0" rtlCol="0" anchor="ctr"/>
          <a:lstStyle/>
          <a:p>
            <a:pPr algn="r" indent="0" marL="0">
              <a:buNone/>
            </a:pPr>
            <a:r>
              <a:rPr lang="en-US" sz="1000" b="1" dirty="0">
                <a:solidFill>
                  <a:srgbClr val="5D6F68"/>
                </a:solidFill>
                <a:latin typeface="Calibri" pitchFamily="34" charset="0"/>
                <a:ea typeface="Calibri" pitchFamily="34" charset="-122"/>
                <a:cs typeface="Calibri" pitchFamily="34" charset="-120"/>
              </a:rPr>
              <a:t>2m</a:t>
            </a:r>
            <a:endParaRPr lang="en-US" sz="1000" dirty="0"/>
          </a:p>
        </p:txBody>
      </p:sp>
      <p:sp>
        <p:nvSpPr>
          <p:cNvPr id="27" name="Shape 25"/>
          <p:cNvSpPr/>
          <p:nvPr/>
        </p:nvSpPr>
        <p:spPr>
          <a:xfrm>
            <a:off x="4334256" y="3355848"/>
            <a:ext cx="3529584" cy="1152144"/>
          </a:xfrm>
          <a:prstGeom prst="roundRect">
            <a:avLst>
              <a:gd name="adj" fmla="val 6349"/>
            </a:avLst>
          </a:prstGeom>
          <a:solidFill>
            <a:srgbClr val="F4F8F6"/>
          </a:solidFill>
          <a:ln w="12700">
            <a:solidFill>
              <a:srgbClr val="D8E2DE"/>
            </a:solidFill>
            <a:prstDash val="solid"/>
          </a:ln>
        </p:spPr>
      </p:sp>
      <p:sp>
        <p:nvSpPr>
          <p:cNvPr id="28" name="Shape 26"/>
          <p:cNvSpPr/>
          <p:nvPr/>
        </p:nvSpPr>
        <p:spPr>
          <a:xfrm>
            <a:off x="4553712" y="3721608"/>
            <a:ext cx="384048" cy="384048"/>
          </a:xfrm>
          <a:prstGeom prst="ellipse">
            <a:avLst/>
          </a:prstGeom>
          <a:solidFill>
            <a:srgbClr val="0B3D2E"/>
          </a:solidFill>
          <a:ln/>
        </p:spPr>
      </p:sp>
      <p:sp>
        <p:nvSpPr>
          <p:cNvPr id="29" name="Text 27"/>
          <p:cNvSpPr txBox="1"/>
          <p:nvPr/>
        </p:nvSpPr>
        <p:spPr>
          <a:xfrm>
            <a:off x="4553712" y="372160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0" name="Text 28"/>
          <p:cNvSpPr txBox="1"/>
          <p:nvPr/>
        </p:nvSpPr>
        <p:spPr>
          <a:xfrm>
            <a:off x="5084064" y="3575304"/>
            <a:ext cx="2103120" cy="713232"/>
          </a:xfrm>
          <a:prstGeom prst="rect">
            <a:avLst/>
          </a:prstGeom>
          <a:noFill/>
          <a:ln/>
        </p:spPr>
        <p:txBody>
          <a:bodyPr wrap="square" lIns="0" tIns="0" rIns="0" bIns="0" rtlCol="0" anchor="ctr"/>
          <a:lstStyle/>
          <a:p>
            <a:pPr indent="0" marL="0">
              <a:buNone/>
            </a:pPr>
            <a:r>
              <a:rPr lang="en-US" sz="1150" b="1" dirty="0">
                <a:solidFill>
                  <a:srgbClr val="0F1F1A"/>
                </a:solidFill>
                <a:latin typeface="Calibri" pitchFamily="34" charset="0"/>
                <a:ea typeface="Calibri" pitchFamily="34" charset="-122"/>
                <a:cs typeface="Calibri" pitchFamily="34" charset="-120"/>
              </a:rPr>
              <a:t>Free typing, and a voice for the doctor</a:t>
            </a:r>
            <a:endParaRPr lang="en-US" sz="1150" dirty="0"/>
          </a:p>
        </p:txBody>
      </p:sp>
      <p:sp>
        <p:nvSpPr>
          <p:cNvPr id="31" name="Text 29"/>
          <p:cNvSpPr txBox="1"/>
          <p:nvPr/>
        </p:nvSpPr>
        <p:spPr>
          <a:xfrm>
            <a:off x="7223760" y="3776472"/>
            <a:ext cx="457200" cy="274320"/>
          </a:xfrm>
          <a:prstGeom prst="rect">
            <a:avLst/>
          </a:prstGeom>
          <a:noFill/>
          <a:ln/>
        </p:spPr>
        <p:txBody>
          <a:bodyPr wrap="square" lIns="0" tIns="0" rIns="0" bIns="0" rtlCol="0" anchor="ctr"/>
          <a:lstStyle/>
          <a:p>
            <a:pPr algn="r" indent="0" marL="0">
              <a:buNone/>
            </a:pPr>
            <a:r>
              <a:rPr lang="en-US" sz="1000" b="1" dirty="0">
                <a:solidFill>
                  <a:srgbClr val="5D6F68"/>
                </a:solidFill>
                <a:latin typeface="Calibri" pitchFamily="34" charset="0"/>
                <a:ea typeface="Calibri" pitchFamily="34" charset="-122"/>
                <a:cs typeface="Calibri" pitchFamily="34" charset="-120"/>
              </a:rPr>
              <a:t>70s</a:t>
            </a:r>
            <a:endParaRPr lang="en-US" sz="1000" dirty="0"/>
          </a:p>
        </p:txBody>
      </p:sp>
      <p:sp>
        <p:nvSpPr>
          <p:cNvPr id="32" name="Shape 30"/>
          <p:cNvSpPr/>
          <p:nvPr/>
        </p:nvSpPr>
        <p:spPr>
          <a:xfrm>
            <a:off x="8101584" y="3355848"/>
            <a:ext cx="3529584" cy="1152144"/>
          </a:xfrm>
          <a:prstGeom prst="roundRect">
            <a:avLst>
              <a:gd name="adj" fmla="val 6349"/>
            </a:avLst>
          </a:prstGeom>
          <a:solidFill>
            <a:srgbClr val="F4F8F6"/>
          </a:solidFill>
          <a:ln w="12700">
            <a:solidFill>
              <a:srgbClr val="D8E2DE"/>
            </a:solidFill>
            <a:prstDash val="solid"/>
          </a:ln>
        </p:spPr>
      </p:sp>
      <p:sp>
        <p:nvSpPr>
          <p:cNvPr id="33" name="Shape 31"/>
          <p:cNvSpPr/>
          <p:nvPr/>
        </p:nvSpPr>
        <p:spPr>
          <a:xfrm>
            <a:off x="8321040" y="3721608"/>
            <a:ext cx="384048" cy="384048"/>
          </a:xfrm>
          <a:prstGeom prst="ellipse">
            <a:avLst/>
          </a:prstGeom>
          <a:solidFill>
            <a:srgbClr val="0B3D2E"/>
          </a:solidFill>
          <a:ln/>
        </p:spPr>
      </p:sp>
      <p:sp>
        <p:nvSpPr>
          <p:cNvPr id="34" name="Text 32"/>
          <p:cNvSpPr txBox="1"/>
          <p:nvPr/>
        </p:nvSpPr>
        <p:spPr>
          <a:xfrm>
            <a:off x="8321040" y="372160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5" name="Text 33"/>
          <p:cNvSpPr txBox="1"/>
          <p:nvPr/>
        </p:nvSpPr>
        <p:spPr>
          <a:xfrm>
            <a:off x="8851392" y="3575304"/>
            <a:ext cx="2103120" cy="713232"/>
          </a:xfrm>
          <a:prstGeom prst="rect">
            <a:avLst/>
          </a:prstGeom>
          <a:noFill/>
          <a:ln/>
        </p:spPr>
        <p:txBody>
          <a:bodyPr wrap="square" lIns="0" tIns="0" rIns="0" bIns="0" rtlCol="0" anchor="ctr"/>
          <a:lstStyle/>
          <a:p>
            <a:pPr indent="0" marL="0">
              <a:buNone/>
            </a:pPr>
            <a:r>
              <a:rPr lang="en-US" sz="1150" b="1" dirty="0">
                <a:solidFill>
                  <a:srgbClr val="0F1F1A"/>
                </a:solidFill>
                <a:latin typeface="Calibri" pitchFamily="34" charset="0"/>
                <a:ea typeface="Calibri" pitchFamily="34" charset="-122"/>
                <a:cs typeface="Calibri" pitchFamily="34" charset="-120"/>
              </a:rPr>
              <a:t>The app refuses a sentence</a:t>
            </a:r>
            <a:endParaRPr lang="en-US" sz="1150" dirty="0"/>
          </a:p>
        </p:txBody>
      </p:sp>
      <p:sp>
        <p:nvSpPr>
          <p:cNvPr id="36" name="Text 34"/>
          <p:cNvSpPr txBox="1"/>
          <p:nvPr/>
        </p:nvSpPr>
        <p:spPr>
          <a:xfrm>
            <a:off x="10991088" y="3776472"/>
            <a:ext cx="457200" cy="274320"/>
          </a:xfrm>
          <a:prstGeom prst="rect">
            <a:avLst/>
          </a:prstGeom>
          <a:noFill/>
          <a:ln/>
        </p:spPr>
        <p:txBody>
          <a:bodyPr wrap="square" lIns="0" tIns="0" rIns="0" bIns="0" rtlCol="0" anchor="ctr"/>
          <a:lstStyle/>
          <a:p>
            <a:pPr algn="r" indent="0" marL="0">
              <a:buNone/>
            </a:pPr>
            <a:r>
              <a:rPr lang="en-US" sz="1000" b="1" dirty="0">
                <a:solidFill>
                  <a:srgbClr val="5D6F68"/>
                </a:solidFill>
                <a:latin typeface="Calibri" pitchFamily="34" charset="0"/>
                <a:ea typeface="Calibri" pitchFamily="34" charset="-122"/>
                <a:cs typeface="Calibri" pitchFamily="34" charset="-120"/>
              </a:rPr>
              <a:t>60s</a:t>
            </a:r>
            <a:endParaRPr lang="en-US" sz="1000" dirty="0"/>
          </a:p>
        </p:txBody>
      </p:sp>
      <p:sp>
        <p:nvSpPr>
          <p:cNvPr id="37" name="Shape 35"/>
          <p:cNvSpPr/>
          <p:nvPr/>
        </p:nvSpPr>
        <p:spPr>
          <a:xfrm>
            <a:off x="566928" y="4654296"/>
            <a:ext cx="3529584" cy="1152144"/>
          </a:xfrm>
          <a:prstGeom prst="roundRect">
            <a:avLst>
              <a:gd name="adj" fmla="val 6349"/>
            </a:avLst>
          </a:prstGeom>
          <a:solidFill>
            <a:srgbClr val="F4F8F6"/>
          </a:solidFill>
          <a:ln w="12700">
            <a:solidFill>
              <a:srgbClr val="D8E2DE"/>
            </a:solidFill>
            <a:prstDash val="solid"/>
          </a:ln>
        </p:spPr>
      </p:sp>
      <p:sp>
        <p:nvSpPr>
          <p:cNvPr id="38" name="Shape 36"/>
          <p:cNvSpPr/>
          <p:nvPr/>
        </p:nvSpPr>
        <p:spPr>
          <a:xfrm>
            <a:off x="786384" y="5020056"/>
            <a:ext cx="384048" cy="384048"/>
          </a:xfrm>
          <a:prstGeom prst="ellipse">
            <a:avLst/>
          </a:prstGeom>
          <a:solidFill>
            <a:srgbClr val="0B3D2E"/>
          </a:solidFill>
          <a:ln/>
        </p:spPr>
      </p:sp>
      <p:sp>
        <p:nvSpPr>
          <p:cNvPr id="39" name="Text 37"/>
          <p:cNvSpPr txBox="1"/>
          <p:nvPr/>
        </p:nvSpPr>
        <p:spPr>
          <a:xfrm>
            <a:off x="786384" y="5020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40" name="Text 38"/>
          <p:cNvSpPr txBox="1"/>
          <p:nvPr/>
        </p:nvSpPr>
        <p:spPr>
          <a:xfrm>
            <a:off x="1316736" y="4873752"/>
            <a:ext cx="2103120" cy="713232"/>
          </a:xfrm>
          <a:prstGeom prst="rect">
            <a:avLst/>
          </a:prstGeom>
          <a:noFill/>
          <a:ln/>
        </p:spPr>
        <p:txBody>
          <a:bodyPr wrap="square" lIns="0" tIns="0" rIns="0" bIns="0" rtlCol="0" anchor="ctr"/>
          <a:lstStyle/>
          <a:p>
            <a:pPr indent="0" marL="0">
              <a:buNone/>
            </a:pPr>
            <a:r>
              <a:rPr lang="en-US" sz="1150" b="1" dirty="0">
                <a:solidFill>
                  <a:srgbClr val="0F1F1A"/>
                </a:solidFill>
                <a:latin typeface="Calibri" pitchFamily="34" charset="0"/>
                <a:ea typeface="Calibri" pitchFamily="34" charset="-122"/>
                <a:cs typeface="Calibri" pitchFamily="34" charset="-120"/>
              </a:rPr>
              <a:t>Emergency, mirrored to her phone</a:t>
            </a:r>
            <a:endParaRPr lang="en-US" sz="1150" dirty="0"/>
          </a:p>
        </p:txBody>
      </p:sp>
      <p:sp>
        <p:nvSpPr>
          <p:cNvPr id="41" name="Text 39"/>
          <p:cNvSpPr txBox="1"/>
          <p:nvPr/>
        </p:nvSpPr>
        <p:spPr>
          <a:xfrm>
            <a:off x="3456432" y="5074920"/>
            <a:ext cx="457200" cy="274320"/>
          </a:xfrm>
          <a:prstGeom prst="rect">
            <a:avLst/>
          </a:prstGeom>
          <a:noFill/>
          <a:ln/>
        </p:spPr>
        <p:txBody>
          <a:bodyPr wrap="square" lIns="0" tIns="0" rIns="0" bIns="0" rtlCol="0" anchor="ctr"/>
          <a:lstStyle/>
          <a:p>
            <a:pPr algn="r" indent="0" marL="0">
              <a:buNone/>
            </a:pPr>
            <a:r>
              <a:rPr lang="en-US" sz="1000" b="1" dirty="0">
                <a:solidFill>
                  <a:srgbClr val="5D6F68"/>
                </a:solidFill>
                <a:latin typeface="Calibri" pitchFamily="34" charset="0"/>
                <a:ea typeface="Calibri" pitchFamily="34" charset="-122"/>
                <a:cs typeface="Calibri" pitchFamily="34" charset="-120"/>
              </a:rPr>
              <a:t>60s</a:t>
            </a:r>
            <a:endParaRPr lang="en-US" sz="1000" dirty="0"/>
          </a:p>
        </p:txBody>
      </p:sp>
      <p:sp>
        <p:nvSpPr>
          <p:cNvPr id="42" name="Shape 40"/>
          <p:cNvSpPr/>
          <p:nvPr/>
        </p:nvSpPr>
        <p:spPr>
          <a:xfrm>
            <a:off x="4334256" y="4654296"/>
            <a:ext cx="3529584" cy="1152144"/>
          </a:xfrm>
          <a:prstGeom prst="roundRect">
            <a:avLst>
              <a:gd name="adj" fmla="val 6349"/>
            </a:avLst>
          </a:prstGeom>
          <a:solidFill>
            <a:srgbClr val="F4F8F6"/>
          </a:solidFill>
          <a:ln w="12700">
            <a:solidFill>
              <a:srgbClr val="D8E2DE"/>
            </a:solidFill>
            <a:prstDash val="solid"/>
          </a:ln>
        </p:spPr>
      </p:sp>
      <p:sp>
        <p:nvSpPr>
          <p:cNvPr id="43" name="Shape 41"/>
          <p:cNvSpPr/>
          <p:nvPr/>
        </p:nvSpPr>
        <p:spPr>
          <a:xfrm>
            <a:off x="4553712" y="5020056"/>
            <a:ext cx="384048" cy="384048"/>
          </a:xfrm>
          <a:prstGeom prst="ellipse">
            <a:avLst/>
          </a:prstGeom>
          <a:solidFill>
            <a:srgbClr val="0B3D2E"/>
          </a:solidFill>
          <a:ln/>
        </p:spPr>
      </p:sp>
      <p:sp>
        <p:nvSpPr>
          <p:cNvPr id="44" name="Text 42"/>
          <p:cNvSpPr txBox="1"/>
          <p:nvPr/>
        </p:nvSpPr>
        <p:spPr>
          <a:xfrm>
            <a:off x="4553712" y="5020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5" name="Text 43"/>
          <p:cNvSpPr txBox="1"/>
          <p:nvPr/>
        </p:nvSpPr>
        <p:spPr>
          <a:xfrm>
            <a:off x="5084064" y="4873752"/>
            <a:ext cx="2103120" cy="713232"/>
          </a:xfrm>
          <a:prstGeom prst="rect">
            <a:avLst/>
          </a:prstGeom>
          <a:noFill/>
          <a:ln/>
        </p:spPr>
        <p:txBody>
          <a:bodyPr wrap="square" lIns="0" tIns="0" rIns="0" bIns="0" rtlCol="0" anchor="ctr"/>
          <a:lstStyle/>
          <a:p>
            <a:pPr indent="0" marL="0">
              <a:buNone/>
            </a:pPr>
            <a:r>
              <a:rPr lang="en-US" sz="1150" b="1" dirty="0">
                <a:solidFill>
                  <a:srgbClr val="0F1F1A"/>
                </a:solidFill>
                <a:latin typeface="Calibri" pitchFamily="34" charset="0"/>
                <a:ea typeface="Calibri" pitchFamily="34" charset="-122"/>
                <a:cs typeface="Calibri" pitchFamily="34" charset="-120"/>
              </a:rPr>
              <a:t>The medicine, saved on her phone</a:t>
            </a:r>
            <a:endParaRPr lang="en-US" sz="1150" dirty="0"/>
          </a:p>
        </p:txBody>
      </p:sp>
      <p:sp>
        <p:nvSpPr>
          <p:cNvPr id="46" name="Text 44"/>
          <p:cNvSpPr txBox="1"/>
          <p:nvPr/>
        </p:nvSpPr>
        <p:spPr>
          <a:xfrm>
            <a:off x="7223760" y="5074920"/>
            <a:ext cx="457200" cy="274320"/>
          </a:xfrm>
          <a:prstGeom prst="rect">
            <a:avLst/>
          </a:prstGeom>
          <a:noFill/>
          <a:ln/>
        </p:spPr>
        <p:txBody>
          <a:bodyPr wrap="square" lIns="0" tIns="0" rIns="0" bIns="0" rtlCol="0" anchor="ctr"/>
          <a:lstStyle/>
          <a:p>
            <a:pPr algn="r" indent="0" marL="0">
              <a:buNone/>
            </a:pPr>
            <a:r>
              <a:rPr lang="en-US" sz="1000" b="1" dirty="0">
                <a:solidFill>
                  <a:srgbClr val="5D6F68"/>
                </a:solidFill>
                <a:latin typeface="Calibri" pitchFamily="34" charset="0"/>
                <a:ea typeface="Calibri" pitchFamily="34" charset="-122"/>
                <a:cs typeface="Calibri" pitchFamily="34" charset="-120"/>
              </a:rPr>
              <a:t>2m</a:t>
            </a:r>
            <a:endParaRPr lang="en-US" sz="1000" dirty="0"/>
          </a:p>
        </p:txBody>
      </p:sp>
      <p:sp>
        <p:nvSpPr>
          <p:cNvPr id="47" name="Shape 45"/>
          <p:cNvSpPr/>
          <p:nvPr/>
        </p:nvSpPr>
        <p:spPr>
          <a:xfrm>
            <a:off x="8101584" y="4654296"/>
            <a:ext cx="3529584" cy="1152144"/>
          </a:xfrm>
          <a:prstGeom prst="roundRect">
            <a:avLst>
              <a:gd name="adj" fmla="val 6349"/>
            </a:avLst>
          </a:prstGeom>
          <a:solidFill>
            <a:srgbClr val="F4F8F6"/>
          </a:solidFill>
          <a:ln w="12700">
            <a:solidFill>
              <a:srgbClr val="D8E2DE"/>
            </a:solidFill>
            <a:prstDash val="solid"/>
          </a:ln>
        </p:spPr>
      </p:sp>
      <p:sp>
        <p:nvSpPr>
          <p:cNvPr id="48" name="Shape 46"/>
          <p:cNvSpPr/>
          <p:nvPr/>
        </p:nvSpPr>
        <p:spPr>
          <a:xfrm>
            <a:off x="8321040" y="5020056"/>
            <a:ext cx="384048" cy="384048"/>
          </a:xfrm>
          <a:prstGeom prst="ellipse">
            <a:avLst/>
          </a:prstGeom>
          <a:solidFill>
            <a:srgbClr val="0B3D2E"/>
          </a:solidFill>
          <a:ln/>
        </p:spPr>
      </p:sp>
      <p:sp>
        <p:nvSpPr>
          <p:cNvPr id="49" name="Text 47"/>
          <p:cNvSpPr txBox="1"/>
          <p:nvPr/>
        </p:nvSpPr>
        <p:spPr>
          <a:xfrm>
            <a:off x="8321040" y="50200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50" name="Text 48"/>
          <p:cNvSpPr txBox="1"/>
          <p:nvPr/>
        </p:nvSpPr>
        <p:spPr>
          <a:xfrm>
            <a:off x="8851392" y="4873752"/>
            <a:ext cx="2103120" cy="713232"/>
          </a:xfrm>
          <a:prstGeom prst="rect">
            <a:avLst/>
          </a:prstGeom>
          <a:noFill/>
          <a:ln/>
        </p:spPr>
        <p:txBody>
          <a:bodyPr wrap="square" lIns="0" tIns="0" rIns="0" bIns="0" rtlCol="0" anchor="ctr"/>
          <a:lstStyle/>
          <a:p>
            <a:pPr indent="0" marL="0">
              <a:buNone/>
            </a:pPr>
            <a:r>
              <a:rPr lang="en-US" sz="1150" b="1" dirty="0">
                <a:solidFill>
                  <a:srgbClr val="0F1F1A"/>
                </a:solidFill>
                <a:latin typeface="Calibri" pitchFamily="34" charset="0"/>
                <a:ea typeface="Calibri" pitchFamily="34" charset="-122"/>
                <a:cs typeface="Calibri" pitchFamily="34" charset="-120"/>
              </a:rPr>
              <a:t>One shared screen, and no app store</a:t>
            </a:r>
            <a:endParaRPr lang="en-US" sz="1150" dirty="0"/>
          </a:p>
        </p:txBody>
      </p:sp>
      <p:sp>
        <p:nvSpPr>
          <p:cNvPr id="51" name="Text 49"/>
          <p:cNvSpPr txBox="1"/>
          <p:nvPr/>
        </p:nvSpPr>
        <p:spPr>
          <a:xfrm>
            <a:off x="10991088" y="5074920"/>
            <a:ext cx="457200" cy="274320"/>
          </a:xfrm>
          <a:prstGeom prst="rect">
            <a:avLst/>
          </a:prstGeom>
          <a:noFill/>
          <a:ln/>
        </p:spPr>
        <p:txBody>
          <a:bodyPr wrap="square" lIns="0" tIns="0" rIns="0" bIns="0" rtlCol="0" anchor="ctr"/>
          <a:lstStyle/>
          <a:p>
            <a:pPr algn="r" indent="0" marL="0">
              <a:buNone/>
            </a:pPr>
            <a:r>
              <a:rPr lang="en-US" sz="1000" b="1" dirty="0">
                <a:solidFill>
                  <a:srgbClr val="5D6F68"/>
                </a:solidFill>
                <a:latin typeface="Calibri" pitchFamily="34" charset="0"/>
                <a:ea typeface="Calibri" pitchFamily="34" charset="-122"/>
                <a:cs typeface="Calibri" pitchFamily="34" charset="-120"/>
              </a:rPr>
              <a:t>80s</a:t>
            </a:r>
            <a:endParaRPr lang="en-US" sz="1000" dirty="0"/>
          </a:p>
        </p:txBody>
      </p:sp>
      <p:sp>
        <p:nvSpPr>
          <p:cNvPr id="52" name="Text 50"/>
          <p:cNvSpPr txBox="1"/>
          <p:nvPr/>
        </p:nvSpPr>
        <p:spPr>
          <a:xfrm>
            <a:off x="566928" y="5961888"/>
            <a:ext cx="11057839" cy="457200"/>
          </a:xfrm>
          <a:prstGeom prst="rect">
            <a:avLst/>
          </a:prstGeom>
          <a:noFill/>
          <a:ln/>
        </p:spPr>
        <p:txBody>
          <a:bodyPr wrap="square" lIns="0" tIns="0" rIns="0" bIns="0" rtlCol="0" anchor="t"/>
          <a:lstStyle/>
          <a:p>
            <a:pPr indent="0" marL="0">
              <a:lnSpc>
                <a:spcPts val="1584"/>
              </a:lnSpc>
              <a:buNone/>
            </a:pPr>
            <a:r>
              <a:rPr lang="en-US" sz="1200" dirty="0">
                <a:solidFill>
                  <a:srgbClr val="5D6F68"/>
                </a:solidFill>
                <a:latin typeface="Calibri" pitchFamily="34" charset="0"/>
                <a:ea typeface="Calibri" pitchFamily="34" charset="-122"/>
                <a:cs typeface="Calibri" pitchFamily="34" charset="-120"/>
              </a:rPr>
              <a:t>Running late? Cut 5 and 9. Never cut 6 or 8 — the refusal and the medicine are the two that win marks.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3D2E"/>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200" kern="0" dirty="0">
                <a:solidFill>
                  <a:srgbClr val="7FD8B8"/>
                </a:solidFill>
                <a:latin typeface="Calibri" pitchFamily="34" charset="0"/>
                <a:ea typeface="Calibri" pitchFamily="34" charset="-122"/>
                <a:cs typeface="Calibri" pitchFamily="34" charset="-120"/>
              </a:rPr>
              <a:t>WHY IT IS SAFE</a:t>
            </a:r>
            <a:endParaRPr lang="en-US" sz="1100" dirty="0"/>
          </a:p>
        </p:txBody>
      </p:sp>
      <p:sp>
        <p:nvSpPr>
          <p:cNvPr id="3" name="Text 1"/>
          <p:cNvSpPr txBox="1"/>
          <p:nvPr/>
        </p:nvSpPr>
        <p:spPr>
          <a:xfrm>
            <a:off x="566928" y="640080"/>
            <a:ext cx="11057839"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It would rather show nothing than half a sentence</a:t>
            </a:r>
            <a:endParaRPr lang="en-US" sz="3400" dirty="0"/>
          </a:p>
        </p:txBody>
      </p:sp>
      <p:sp>
        <p:nvSpPr>
          <p:cNvPr id="4" name="Text 2"/>
          <p:cNvSpPr txBox="1"/>
          <p:nvPr/>
        </p:nvSpPr>
        <p:spPr>
          <a:xfrm>
            <a:off x="566928" y="6382512"/>
            <a:ext cx="3657600" cy="237744"/>
          </a:xfrm>
          <a:prstGeom prst="rect">
            <a:avLst/>
          </a:prstGeom>
          <a:noFill/>
          <a:ln/>
        </p:spPr>
        <p:txBody>
          <a:bodyPr wrap="square" lIns="0" tIns="0" rIns="0" bIns="0" rtlCol="0" anchor="ctr"/>
          <a:lstStyle/>
          <a:p>
            <a:pPr indent="0" marL="0">
              <a:buNone/>
            </a:pPr>
            <a:r>
              <a:rPr lang="en-US" sz="950" dirty="0">
                <a:solidFill>
                  <a:srgbClr val="7F9B91"/>
                </a:solidFill>
                <a:latin typeface="Calibri" pitchFamily="34" charset="0"/>
                <a:ea typeface="Calibri" pitchFamily="34" charset="-122"/>
                <a:cs typeface="Calibri" pitchFamily="34" charset="-120"/>
              </a:rPr>
              <a:t>Tie Me Ghana</a:t>
            </a:r>
            <a:endParaRPr lang="en-US" sz="950" dirty="0"/>
          </a:p>
        </p:txBody>
      </p:sp>
      <p:sp>
        <p:nvSpPr>
          <p:cNvPr id="5" name="Text 3"/>
          <p:cNvSpPr txBox="1"/>
          <p:nvPr/>
        </p:nvSpPr>
        <p:spPr>
          <a:xfrm>
            <a:off x="10710367" y="6382512"/>
            <a:ext cx="914400" cy="237744"/>
          </a:xfrm>
          <a:prstGeom prst="rect">
            <a:avLst/>
          </a:prstGeom>
          <a:noFill/>
          <a:ln/>
        </p:spPr>
        <p:txBody>
          <a:bodyPr wrap="square" lIns="0" tIns="0" rIns="0" bIns="0" rtlCol="0" anchor="ctr"/>
          <a:lstStyle/>
          <a:p>
            <a:pPr algn="r" indent="0" marL="0">
              <a:buNone/>
            </a:pPr>
            <a:r>
              <a:rPr lang="en-US" sz="950" dirty="0">
                <a:solidFill>
                  <a:srgbClr val="7F9B91"/>
                </a:solidFill>
                <a:latin typeface="Calibri" pitchFamily="34" charset="0"/>
                <a:ea typeface="Calibri" pitchFamily="34" charset="-122"/>
                <a:cs typeface="Calibri" pitchFamily="34" charset="-120"/>
              </a:rPr>
              <a:t>7</a:t>
            </a:r>
            <a:endParaRPr lang="en-US" sz="950" dirty="0"/>
          </a:p>
        </p:txBody>
      </p:sp>
      <p:sp>
        <p:nvSpPr>
          <p:cNvPr id="6" name="Text 4"/>
          <p:cNvSpPr txBox="1"/>
          <p:nvPr/>
        </p:nvSpPr>
        <p:spPr>
          <a:xfrm>
            <a:off x="566928" y="1920240"/>
            <a:ext cx="6766560" cy="54864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“Your pain is not serious.”</a:t>
            </a:r>
            <a:endParaRPr lang="en-US" sz="2500" dirty="0"/>
          </a:p>
        </p:txBody>
      </p:sp>
      <p:sp>
        <p:nvSpPr>
          <p:cNvPr id="7" name="Shape 5"/>
          <p:cNvSpPr/>
          <p:nvPr/>
        </p:nvSpPr>
        <p:spPr>
          <a:xfrm>
            <a:off x="566928" y="2651760"/>
            <a:ext cx="6766560" cy="960120"/>
          </a:xfrm>
          <a:prstGeom prst="roundRect">
            <a:avLst>
              <a:gd name="adj" fmla="val 7619"/>
            </a:avLst>
          </a:prstGeom>
          <a:solidFill>
            <a:srgbClr val="FDF2F0"/>
          </a:solidFill>
          <a:ln w="12700">
            <a:solidFill>
              <a:srgbClr val="D8E2DE"/>
            </a:solidFill>
            <a:prstDash val="solid"/>
          </a:ln>
        </p:spPr>
      </p:sp>
      <p:sp>
        <p:nvSpPr>
          <p:cNvPr id="8" name="Text 6"/>
          <p:cNvSpPr txBox="1"/>
          <p:nvPr/>
        </p:nvSpPr>
        <p:spPr>
          <a:xfrm>
            <a:off x="822960" y="2834640"/>
            <a:ext cx="6309360" cy="621792"/>
          </a:xfrm>
          <a:prstGeom prst="rect">
            <a:avLst/>
          </a:prstGeom>
          <a:noFill/>
          <a:ln/>
        </p:spPr>
        <p:txBody>
          <a:bodyPr wrap="square" lIns="0" tIns="0" rIns="0" bIns="0" rtlCol="0" anchor="ctr"/>
          <a:lstStyle/>
          <a:p>
            <a:pPr indent="0" marL="0">
              <a:buNone/>
            </a:pPr>
            <a:r>
              <a:rPr lang="en-US" sz="1300" b="1" dirty="0">
                <a:solidFill>
                  <a:srgbClr val="A4301C"/>
                </a:solidFill>
                <a:latin typeface="Calibri" pitchFamily="34" charset="0"/>
                <a:ea typeface="Calibri" pitchFamily="34" charset="-122"/>
                <a:cs typeface="Calibri" pitchFamily="34" charset="-120"/>
              </a:rPr>
              <a:t>Refused. The word “not” has no reviewed sign, so the sentence does not play.</a:t>
            </a:r>
            <a:endParaRPr lang="en-US" sz="1300" dirty="0"/>
          </a:p>
        </p:txBody>
      </p:sp>
      <p:sp>
        <p:nvSpPr>
          <p:cNvPr id="9" name="Text 7"/>
          <p:cNvSpPr txBox="1"/>
          <p:nvPr/>
        </p:nvSpPr>
        <p:spPr>
          <a:xfrm>
            <a:off x="566928" y="3913632"/>
            <a:ext cx="6766560" cy="2011680"/>
          </a:xfrm>
          <a:prstGeom prst="rect">
            <a:avLst/>
          </a:prstGeom>
          <a:noFill/>
          <a:ln/>
        </p:spPr>
        <p:txBody>
          <a:bodyPr wrap="square" lIns="0" tIns="0" rIns="0" bIns="0" rtlCol="0" anchor="ctr"/>
          <a:lstStyle/>
          <a:p>
            <a:pPr indent="0" marL="0">
              <a:lnSpc>
                <a:spcPts val="1900"/>
              </a:lnSpc>
              <a:buNone/>
            </a:pPr>
            <a:r>
              <a:rPr lang="en-US" sz="1300" dirty="0">
                <a:solidFill>
                  <a:srgbClr val="CFE4DC"/>
                </a:solidFill>
                <a:latin typeface="Calibri" pitchFamily="34" charset="0"/>
                <a:ea typeface="Calibri" pitchFamily="34" charset="-122"/>
                <a:cs typeface="Calibri" pitchFamily="34" charset="-120"/>
              </a:rPr>
              <a:t>A normal app drops the word it does not know and plays the rest. The patient would have read “your pain is serious” — the opposite of what the doctor said.</a:t>
            </a:r>
            <a:endParaRPr lang="en-US" sz="1300" dirty="0"/>
          </a:p>
          <a:p>
            <a:pPr indent="0" marL="0">
              <a:lnSpc>
                <a:spcPts val="1900"/>
              </a:lnSpc>
              <a:buNone/>
            </a:pPr>
            <a:endParaRPr lang="en-US" sz="1300" dirty="0"/>
          </a:p>
          <a:p>
            <a:pPr indent="0" marL="0">
              <a:lnSpc>
                <a:spcPts val="1900"/>
              </a:lnSpc>
              <a:buNone/>
            </a:pPr>
            <a:r>
              <a:rPr lang="en-US" sz="1300" dirty="0">
                <a:solidFill>
                  <a:srgbClr val="CFE4DC"/>
                </a:solidFill>
                <a:latin typeface="Calibri" pitchFamily="34" charset="0"/>
                <a:ea typeface="Calibri" pitchFamily="34" charset="-122"/>
                <a:cs typeface="Calibri" pitchFamily="34" charset="-120"/>
              </a:rPr>
              <a:t>In a hospital that is how somebody takes the wrong dose. So every word is classified before anything plays: droppable, or safe to spell, or blocking. One blocking word stops the whole sentence and the doctor is told which word it was.</a:t>
            </a:r>
            <a:endParaRPr lang="en-US" sz="1300" dirty="0"/>
          </a:p>
        </p:txBody>
      </p:sp>
      <p:sp>
        <p:nvSpPr>
          <p:cNvPr id="10" name="Shape 8"/>
          <p:cNvSpPr/>
          <p:nvPr/>
        </p:nvSpPr>
        <p:spPr>
          <a:xfrm>
            <a:off x="7818120" y="1920240"/>
            <a:ext cx="3803904" cy="3794760"/>
          </a:xfrm>
          <a:prstGeom prst="roundRect">
            <a:avLst>
              <a:gd name="adj" fmla="val 1928"/>
            </a:avLst>
          </a:prstGeom>
          <a:solidFill>
            <a:srgbClr val="F4F8F6"/>
          </a:solidFill>
          <a:ln w="12700">
            <a:solidFill>
              <a:srgbClr val="D8E2DE"/>
            </a:solidFill>
            <a:prstDash val="solid"/>
          </a:ln>
        </p:spPr>
      </p:sp>
      <p:sp>
        <p:nvSpPr>
          <p:cNvPr id="11" name="Text 9"/>
          <p:cNvSpPr txBox="1"/>
          <p:nvPr/>
        </p:nvSpPr>
        <p:spPr>
          <a:xfrm>
            <a:off x="8055864" y="2139696"/>
            <a:ext cx="3291840" cy="274320"/>
          </a:xfrm>
          <a:prstGeom prst="rect">
            <a:avLst/>
          </a:prstGeom>
          <a:noFill/>
          <a:ln/>
        </p:spPr>
        <p:txBody>
          <a:bodyPr wrap="square" lIns="0" tIns="0" rIns="0" bIns="0" rtlCol="0" anchor="ctr"/>
          <a:lstStyle/>
          <a:p>
            <a:pPr indent="0" marL="0">
              <a:buNone/>
            </a:pPr>
            <a:r>
              <a:rPr lang="en-US" sz="1500" b="1" dirty="0">
                <a:solidFill>
                  <a:srgbClr val="0B3D2E"/>
                </a:solidFill>
                <a:latin typeface="Cambria" pitchFamily="34" charset="0"/>
                <a:ea typeface="Cambria" pitchFamily="34" charset="-122"/>
                <a:cs typeface="Cambria" pitchFamily="34" charset="-120"/>
              </a:rPr>
              <a:t>How a word is treated</a:t>
            </a:r>
            <a:endParaRPr lang="en-US" sz="1500" dirty="0"/>
          </a:p>
        </p:txBody>
      </p:sp>
      <p:sp>
        <p:nvSpPr>
          <p:cNvPr id="12" name="Text 10"/>
          <p:cNvSpPr txBox="1"/>
          <p:nvPr/>
        </p:nvSpPr>
        <p:spPr>
          <a:xfrm>
            <a:off x="8055864" y="2596896"/>
            <a:ext cx="3328416" cy="29260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0F1F1A"/>
                </a:solidFill>
                <a:latin typeface="Calibri" pitchFamily="34" charset="0"/>
                <a:ea typeface="Calibri" pitchFamily="34" charset="-122"/>
                <a:cs typeface="Calibri" pitchFamily="34" charset="-120"/>
              </a:rPr>
              <a:t>Has a reviewed sign → play it</a:t>
            </a:r>
            <a:endParaRPr lang="en-US" sz="1250" dirty="0"/>
          </a:p>
          <a:p>
            <a:pPr marL="342900" indent="-342900">
              <a:spcAft>
                <a:spcPts val="600"/>
              </a:spcAft>
              <a:buSzPct val="100000"/>
              <a:buChar char="•"/>
            </a:pPr>
            <a:r>
              <a:rPr lang="en-US" sz="1250" dirty="0">
                <a:solidFill>
                  <a:srgbClr val="0F1F1A"/>
                </a:solidFill>
                <a:latin typeface="Calibri" pitchFamily="34" charset="0"/>
                <a:ea typeface="Calibri" pitchFamily="34" charset="-122"/>
                <a:cs typeface="Calibri" pitchFamily="34" charset="-120"/>
              </a:rPr>
              <a:t>An article or copula → drop it, GhSL does not use them</a:t>
            </a:r>
            <a:endParaRPr lang="en-US" sz="1250" dirty="0"/>
          </a:p>
          <a:p>
            <a:pPr marL="342900" indent="-342900">
              <a:spcAft>
                <a:spcPts val="600"/>
              </a:spcAft>
              <a:buSzPct val="100000"/>
              <a:buChar char="•"/>
            </a:pPr>
            <a:r>
              <a:rPr lang="en-US" sz="1250" dirty="0">
                <a:solidFill>
                  <a:srgbClr val="0F1F1A"/>
                </a:solidFill>
                <a:latin typeface="Calibri" pitchFamily="34" charset="0"/>
                <a:ea typeface="Calibri" pitchFamily="34" charset="-122"/>
                <a:cs typeface="Calibri" pitchFamily="34" charset="-120"/>
              </a:rPr>
              <a:t>Blocking, like “not” → stop the sentence</a:t>
            </a:r>
            <a:endParaRPr lang="en-US" sz="1250" dirty="0"/>
          </a:p>
          <a:p>
            <a:pPr marL="342900" indent="-342900">
              <a:spcAft>
                <a:spcPts val="600"/>
              </a:spcAft>
              <a:buSzPct val="100000"/>
              <a:buChar char="•"/>
            </a:pPr>
            <a:r>
              <a:rPr lang="en-US" sz="1250" dirty="0">
                <a:solidFill>
                  <a:srgbClr val="0F1F1A"/>
                </a:solidFill>
                <a:latin typeface="Calibri" pitchFamily="34" charset="0"/>
                <a:ea typeface="Calibri" pitchFamily="34" charset="-122"/>
                <a:cs typeface="Calibri" pitchFamily="34" charset="-120"/>
              </a:rPr>
              <a:t>Otherwise → spell it, once the alphabet exists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200" kern="0" dirty="0">
                <a:solidFill>
                  <a:srgbClr val="0A4A3A"/>
                </a:solidFill>
                <a:latin typeface="Calibri" pitchFamily="34" charset="0"/>
                <a:ea typeface="Calibri" pitchFamily="34" charset="-122"/>
                <a:cs typeface="Calibri" pitchFamily="34" charset="-120"/>
              </a:rPr>
              <a:t>ASSESSMENT · 20 POINTS</a:t>
            </a:r>
            <a:endParaRPr lang="en-US" sz="1100" dirty="0"/>
          </a:p>
        </p:txBody>
      </p:sp>
      <p:sp>
        <p:nvSpPr>
          <p:cNvPr id="3" name="Text 1"/>
          <p:cNvSpPr txBox="1"/>
          <p:nvPr/>
        </p:nvSpPr>
        <p:spPr>
          <a:xfrm>
            <a:off x="566928" y="640080"/>
            <a:ext cx="11057839" cy="658368"/>
          </a:xfrm>
          <a:prstGeom prst="rect">
            <a:avLst/>
          </a:prstGeom>
          <a:noFill/>
          <a:ln/>
        </p:spPr>
        <p:txBody>
          <a:bodyPr wrap="square" lIns="0" tIns="0" rIns="0" bIns="0" rtlCol="0" anchor="ctr"/>
          <a:lstStyle/>
          <a:p>
            <a:pPr indent="0" marL="0">
              <a:buNone/>
            </a:pPr>
            <a:r>
              <a:rPr lang="en-US" sz="3400" b="1" dirty="0">
                <a:solidFill>
                  <a:srgbClr val="0F1F1A"/>
                </a:solidFill>
                <a:latin typeface="Cambria" pitchFamily="34" charset="0"/>
                <a:ea typeface="Cambria" pitchFamily="34" charset="-122"/>
                <a:cs typeface="Cambria" pitchFamily="34" charset="-120"/>
              </a:rPr>
              <a:t>Communication support and two-way interaction</a:t>
            </a:r>
            <a:endParaRPr lang="en-US" sz="3400" dirty="0"/>
          </a:p>
        </p:txBody>
      </p:sp>
      <p:sp>
        <p:nvSpPr>
          <p:cNvPr id="4" name="Text 2"/>
          <p:cNvSpPr txBox="1"/>
          <p:nvPr/>
        </p:nvSpPr>
        <p:spPr>
          <a:xfrm>
            <a:off x="566928" y="1335024"/>
            <a:ext cx="9960559" cy="384048"/>
          </a:xfrm>
          <a:prstGeom prst="rect">
            <a:avLst/>
          </a:prstGeom>
          <a:noFill/>
          <a:ln/>
        </p:spPr>
        <p:txBody>
          <a:bodyPr wrap="square" lIns="0" tIns="0" rIns="0" bIns="0" rtlCol="0" anchor="ctr"/>
          <a:lstStyle/>
          <a:p>
            <a:pPr indent="0" marL="0">
              <a:buNone/>
            </a:pPr>
            <a:r>
              <a:rPr lang="en-US" sz="1400" dirty="0">
                <a:solidFill>
                  <a:srgbClr val="5D6F68"/>
                </a:solidFill>
                <a:latin typeface="Calibri" pitchFamily="34" charset="0"/>
                <a:ea typeface="Calibri" pitchFamily="34" charset="-122"/>
                <a:cs typeface="Calibri" pitchFamily="34" charset="-120"/>
              </a:rPr>
              <a:t>Both directions, and neither of them needs an interpreter.</a:t>
            </a:r>
            <a:endParaRPr lang="en-US" sz="1400" dirty="0"/>
          </a:p>
        </p:txBody>
      </p:sp>
      <p:sp>
        <p:nvSpPr>
          <p:cNvPr id="5" name="Text 3"/>
          <p:cNvSpPr txBox="1"/>
          <p:nvPr/>
        </p:nvSpPr>
        <p:spPr>
          <a:xfrm>
            <a:off x="566928" y="6382512"/>
            <a:ext cx="3657600" cy="237744"/>
          </a:xfrm>
          <a:prstGeom prst="rect">
            <a:avLst/>
          </a:prstGeom>
          <a:noFill/>
          <a:ln/>
        </p:spPr>
        <p:txBody>
          <a:bodyPr wrap="square" lIns="0" tIns="0" rIns="0" bIns="0" rtlCol="0" anchor="ctr"/>
          <a:lstStyle/>
          <a:p>
            <a:pPr indent="0" marL="0">
              <a:buNone/>
            </a:pPr>
            <a:r>
              <a:rPr lang="en-US" sz="950" dirty="0">
                <a:solidFill>
                  <a:srgbClr val="5D6F68"/>
                </a:solidFill>
                <a:latin typeface="Calibri" pitchFamily="34" charset="0"/>
                <a:ea typeface="Calibri" pitchFamily="34" charset="-122"/>
                <a:cs typeface="Calibri" pitchFamily="34" charset="-120"/>
              </a:rPr>
              <a:t>Tie Me Ghana</a:t>
            </a:r>
            <a:endParaRPr lang="en-US" sz="950" dirty="0"/>
          </a:p>
        </p:txBody>
      </p:sp>
      <p:sp>
        <p:nvSpPr>
          <p:cNvPr id="6" name="Text 4"/>
          <p:cNvSpPr txBox="1"/>
          <p:nvPr/>
        </p:nvSpPr>
        <p:spPr>
          <a:xfrm>
            <a:off x="10710367" y="6382512"/>
            <a:ext cx="914400" cy="237744"/>
          </a:xfrm>
          <a:prstGeom prst="rect">
            <a:avLst/>
          </a:prstGeom>
          <a:noFill/>
          <a:ln/>
        </p:spPr>
        <p:txBody>
          <a:bodyPr wrap="square" lIns="0" tIns="0" rIns="0" bIns="0" rtlCol="0" anchor="ctr"/>
          <a:lstStyle/>
          <a:p>
            <a:pPr algn="r" indent="0" marL="0">
              <a:buNone/>
            </a:pPr>
            <a:r>
              <a:rPr lang="en-US" sz="950" dirty="0">
                <a:solidFill>
                  <a:srgbClr val="5D6F68"/>
                </a:solidFill>
                <a:latin typeface="Calibri" pitchFamily="34" charset="0"/>
                <a:ea typeface="Calibri" pitchFamily="34" charset="-122"/>
                <a:cs typeface="Calibri" pitchFamily="34" charset="-120"/>
              </a:rPr>
              <a:t>8</a:t>
            </a:r>
            <a:endParaRPr lang="en-US" sz="950" dirty="0"/>
          </a:p>
        </p:txBody>
      </p:sp>
      <p:sp>
        <p:nvSpPr>
          <p:cNvPr id="7" name="Shape 5"/>
          <p:cNvSpPr/>
          <p:nvPr/>
        </p:nvSpPr>
        <p:spPr>
          <a:xfrm>
            <a:off x="566928" y="1965960"/>
            <a:ext cx="5413248" cy="3730752"/>
          </a:xfrm>
          <a:prstGeom prst="roundRect">
            <a:avLst>
              <a:gd name="adj" fmla="val 1961"/>
            </a:avLst>
          </a:prstGeom>
          <a:solidFill>
            <a:srgbClr val="F4F8F6"/>
          </a:solidFill>
          <a:ln w="12700">
            <a:solidFill>
              <a:srgbClr val="D8E2DE"/>
            </a:solidFill>
            <a:prstDash val="solid"/>
          </a:ln>
        </p:spPr>
      </p:sp>
      <p:sp>
        <p:nvSpPr>
          <p:cNvPr id="8" name="Text 6"/>
          <p:cNvSpPr txBox="1"/>
          <p:nvPr/>
        </p:nvSpPr>
        <p:spPr>
          <a:xfrm>
            <a:off x="822960" y="2212848"/>
            <a:ext cx="3657600" cy="274320"/>
          </a:xfrm>
          <a:prstGeom prst="rect">
            <a:avLst/>
          </a:prstGeom>
          <a:noFill/>
          <a:ln/>
        </p:spPr>
        <p:txBody>
          <a:bodyPr wrap="square" lIns="0" tIns="0" rIns="0" bIns="0" rtlCol="0" anchor="ctr"/>
          <a:lstStyle/>
          <a:p>
            <a:pPr indent="0" marL="0">
              <a:buNone/>
            </a:pPr>
            <a:r>
              <a:rPr lang="en-US" sz="1600" b="1" dirty="0">
                <a:solidFill>
                  <a:srgbClr val="0B3D2E"/>
                </a:solidFill>
                <a:latin typeface="Cambria" pitchFamily="34" charset="0"/>
                <a:ea typeface="Cambria" pitchFamily="34" charset="-122"/>
                <a:cs typeface="Cambria" pitchFamily="34" charset="-120"/>
              </a:rPr>
              <a:t>Doctor → patient</a:t>
            </a:r>
            <a:endParaRPr lang="en-US" sz="1600" dirty="0"/>
          </a:p>
        </p:txBody>
      </p:sp>
      <p:sp>
        <p:nvSpPr>
          <p:cNvPr id="9" name="Shape 7"/>
          <p:cNvSpPr/>
          <p:nvPr/>
        </p:nvSpPr>
        <p:spPr>
          <a:xfrm>
            <a:off x="4425696" y="2176272"/>
            <a:ext cx="1298448" cy="256032"/>
          </a:xfrm>
          <a:prstGeom prst="roundRect">
            <a:avLst>
              <a:gd name="adj" fmla="val 50000"/>
            </a:avLst>
          </a:prstGeom>
          <a:solidFill>
            <a:srgbClr val="0B3D2E"/>
          </a:solidFill>
          <a:ln/>
        </p:spPr>
      </p:sp>
      <p:sp>
        <p:nvSpPr>
          <p:cNvPr id="10" name="Text 8"/>
          <p:cNvSpPr txBox="1"/>
          <p:nvPr/>
        </p:nvSpPr>
        <p:spPr>
          <a:xfrm>
            <a:off x="4425696" y="2176272"/>
            <a:ext cx="1298448" cy="256032"/>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WORKING NOW</a:t>
            </a:r>
            <a:endParaRPr lang="en-US" sz="900" dirty="0"/>
          </a:p>
        </p:txBody>
      </p:sp>
      <p:sp>
        <p:nvSpPr>
          <p:cNvPr id="11" name="Text 9"/>
          <p:cNvSpPr txBox="1"/>
          <p:nvPr/>
        </p:nvSpPr>
        <p:spPr>
          <a:xfrm>
            <a:off x="822960" y="2706624"/>
            <a:ext cx="4901184" cy="2871216"/>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F1F1A"/>
                </a:solidFill>
                <a:latin typeface="Calibri" pitchFamily="34" charset="0"/>
                <a:ea typeface="Calibri" pitchFamily="34" charset="-122"/>
                <a:cs typeface="Calibri" pitchFamily="34" charset="-120"/>
              </a:rPr>
              <a:t>Speech or typing, in English or Twi</a:t>
            </a:r>
            <a:endParaRPr lang="en-US" sz="1300" dirty="0"/>
          </a:p>
          <a:p>
            <a:pPr marL="342900" indent="-342900">
              <a:spcAft>
                <a:spcPts val="600"/>
              </a:spcAft>
              <a:buSzPct val="100000"/>
              <a:buChar char="•"/>
            </a:pPr>
            <a:r>
              <a:rPr lang="en-US" sz="1300" dirty="0">
                <a:solidFill>
                  <a:srgbClr val="0F1F1A"/>
                </a:solidFill>
                <a:latin typeface="Calibri" pitchFamily="34" charset="0"/>
                <a:ea typeface="Calibri" pitchFamily="34" charset="-122"/>
                <a:cs typeface="Calibri" pitchFamily="34" charset="-120"/>
              </a:rPr>
              <a:t>Caption shown in Twi, and played as GhSL sign video</a:t>
            </a:r>
            <a:endParaRPr lang="en-US" sz="1300" dirty="0"/>
          </a:p>
          <a:p>
            <a:pPr marL="342900" indent="-342900">
              <a:spcAft>
                <a:spcPts val="600"/>
              </a:spcAft>
              <a:buSzPct val="100000"/>
              <a:buChar char="•"/>
            </a:pPr>
            <a:r>
              <a:rPr lang="en-US" sz="1300" dirty="0">
                <a:solidFill>
                  <a:srgbClr val="0F1F1A"/>
                </a:solidFill>
                <a:latin typeface="Calibri" pitchFamily="34" charset="0"/>
                <a:ea typeface="Calibri" pitchFamily="34" charset="-122"/>
                <a:cs typeface="Calibri" pitchFamily="34" charset="-120"/>
              </a:rPr>
              <a:t>14 whole questions filmed as single clips, so a common question is one smooth video</a:t>
            </a:r>
            <a:endParaRPr lang="en-US" sz="1300" dirty="0"/>
          </a:p>
          <a:p>
            <a:pPr marL="342900" indent="-342900">
              <a:spcAft>
                <a:spcPts val="600"/>
              </a:spcAft>
              <a:buSzPct val="100000"/>
              <a:buChar char="•"/>
            </a:pPr>
            <a:r>
              <a:rPr lang="en-US" sz="1300" dirty="0">
                <a:solidFill>
                  <a:srgbClr val="0F1F1A"/>
                </a:solidFill>
                <a:latin typeface="Calibri" pitchFamily="34" charset="0"/>
                <a:ea typeface="Calibri" pitchFamily="34" charset="-122"/>
                <a:cs typeface="Calibri" pitchFamily="34" charset="-120"/>
              </a:rPr>
              <a:t>Anything else is built sign by sign from the library</a:t>
            </a:r>
            <a:endParaRPr lang="en-US" sz="1300" dirty="0"/>
          </a:p>
        </p:txBody>
      </p:sp>
      <p:sp>
        <p:nvSpPr>
          <p:cNvPr id="12" name="Shape 10"/>
          <p:cNvSpPr/>
          <p:nvPr/>
        </p:nvSpPr>
        <p:spPr>
          <a:xfrm>
            <a:off x="6217920" y="1965960"/>
            <a:ext cx="5413248" cy="3730752"/>
          </a:xfrm>
          <a:prstGeom prst="roundRect">
            <a:avLst>
              <a:gd name="adj" fmla="val 1961"/>
            </a:avLst>
          </a:prstGeom>
          <a:solidFill>
            <a:srgbClr val="F4F8F6"/>
          </a:solidFill>
          <a:ln w="12700">
            <a:solidFill>
              <a:srgbClr val="D8E2DE"/>
            </a:solidFill>
            <a:prstDash val="solid"/>
          </a:ln>
        </p:spPr>
      </p:sp>
      <p:sp>
        <p:nvSpPr>
          <p:cNvPr id="13" name="Text 11"/>
          <p:cNvSpPr txBox="1"/>
          <p:nvPr/>
        </p:nvSpPr>
        <p:spPr>
          <a:xfrm>
            <a:off x="6473952" y="2212848"/>
            <a:ext cx="3657600" cy="274320"/>
          </a:xfrm>
          <a:prstGeom prst="rect">
            <a:avLst/>
          </a:prstGeom>
          <a:noFill/>
          <a:ln/>
        </p:spPr>
        <p:txBody>
          <a:bodyPr wrap="square" lIns="0" tIns="0" rIns="0" bIns="0" rtlCol="0" anchor="ctr"/>
          <a:lstStyle/>
          <a:p>
            <a:pPr indent="0" marL="0">
              <a:buNone/>
            </a:pPr>
            <a:r>
              <a:rPr lang="en-US" sz="1600" b="1" dirty="0">
                <a:solidFill>
                  <a:srgbClr val="0B3D2E"/>
                </a:solidFill>
                <a:latin typeface="Cambria" pitchFamily="34" charset="0"/>
                <a:ea typeface="Cambria" pitchFamily="34" charset="-122"/>
                <a:cs typeface="Cambria" pitchFamily="34" charset="-120"/>
              </a:rPr>
              <a:t>Patient → doctor</a:t>
            </a:r>
            <a:endParaRPr lang="en-US" sz="1600" dirty="0"/>
          </a:p>
        </p:txBody>
      </p:sp>
      <p:sp>
        <p:nvSpPr>
          <p:cNvPr id="14" name="Shape 12"/>
          <p:cNvSpPr/>
          <p:nvPr/>
        </p:nvSpPr>
        <p:spPr>
          <a:xfrm>
            <a:off x="10076688" y="2176272"/>
            <a:ext cx="1298448" cy="256032"/>
          </a:xfrm>
          <a:prstGeom prst="roundRect">
            <a:avLst>
              <a:gd name="adj" fmla="val 50000"/>
            </a:avLst>
          </a:prstGeom>
          <a:solidFill>
            <a:srgbClr val="0B3D2E"/>
          </a:solidFill>
          <a:ln/>
        </p:spPr>
      </p:sp>
      <p:sp>
        <p:nvSpPr>
          <p:cNvPr id="15" name="Text 13"/>
          <p:cNvSpPr txBox="1"/>
          <p:nvPr/>
        </p:nvSpPr>
        <p:spPr>
          <a:xfrm>
            <a:off x="10076688" y="2176272"/>
            <a:ext cx="1298448" cy="256032"/>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WORKING NOW</a:t>
            </a:r>
            <a:endParaRPr lang="en-US" sz="900" dirty="0"/>
          </a:p>
        </p:txBody>
      </p:sp>
      <p:sp>
        <p:nvSpPr>
          <p:cNvPr id="16" name="Text 14"/>
          <p:cNvSpPr txBox="1"/>
          <p:nvPr/>
        </p:nvSpPr>
        <p:spPr>
          <a:xfrm>
            <a:off x="6473952" y="2706624"/>
            <a:ext cx="4901184" cy="2871216"/>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F1F1A"/>
                </a:solidFill>
                <a:latin typeface="Calibri" pitchFamily="34" charset="0"/>
                <a:ea typeface="Calibri" pitchFamily="34" charset="-122"/>
                <a:cs typeface="Calibri" pitchFamily="34" charset="-120"/>
              </a:rPr>
              <a:t>Yes or No, answered by tapping a signed button</a:t>
            </a:r>
            <a:endParaRPr lang="en-US" sz="1300" dirty="0"/>
          </a:p>
          <a:p>
            <a:pPr marL="342900" indent="-342900">
              <a:spcAft>
                <a:spcPts val="600"/>
              </a:spcAft>
              <a:buSzPct val="100000"/>
              <a:buChar char="•"/>
            </a:pPr>
            <a:r>
              <a:rPr lang="en-US" sz="1300" dirty="0">
                <a:solidFill>
                  <a:srgbClr val="0F1F1A"/>
                </a:solidFill>
                <a:latin typeface="Calibri" pitchFamily="34" charset="0"/>
                <a:ea typeface="Calibri" pitchFamily="34" charset="-122"/>
                <a:cs typeface="Calibri" pitchFamily="34" charset="-120"/>
              </a:rPr>
              <a:t>Typed replies, spoken aloud on the doctor's device so his eyes stay on her</a:t>
            </a:r>
            <a:endParaRPr lang="en-US" sz="1300" dirty="0"/>
          </a:p>
          <a:p>
            <a:pPr marL="342900" indent="-342900">
              <a:spcAft>
                <a:spcPts val="600"/>
              </a:spcAft>
              <a:buSzPct val="100000"/>
              <a:buChar char="•"/>
            </a:pPr>
            <a:r>
              <a:rPr lang="en-US" sz="1300" dirty="0">
                <a:solidFill>
                  <a:srgbClr val="0F1F1A"/>
                </a:solidFill>
                <a:latin typeface="Calibri" pitchFamily="34" charset="0"/>
                <a:ea typeface="Calibri" pitchFamily="34" charset="-122"/>
                <a:cs typeface="Calibri" pitchFamily="34" charset="-120"/>
              </a:rPr>
              <a:t>Emergency alerts, a body drawing and a pain scale, all without words</a:t>
            </a:r>
            <a:endParaRPr lang="en-US" sz="1300" dirty="0"/>
          </a:p>
          <a:p>
            <a:pPr marL="342900" indent="-342900">
              <a:spcAft>
                <a:spcPts val="600"/>
              </a:spcAft>
              <a:buSzPct val="100000"/>
              <a:buChar char="•"/>
            </a:pPr>
            <a:r>
              <a:rPr lang="en-US" sz="1300" dirty="0">
                <a:solidFill>
                  <a:srgbClr val="0F1F1A"/>
                </a:solidFill>
                <a:latin typeface="Calibri" pitchFamily="34" charset="0"/>
                <a:ea typeface="Calibri" pitchFamily="34" charset="-122"/>
                <a:cs typeface="Calibri" pitchFamily="34" charset="-120"/>
              </a:rPr>
              <a:t>Every exchange recorded in a transcript on each device</a:t>
            </a:r>
            <a:endParaRPr lang="en-US" sz="1300" dirty="0"/>
          </a:p>
        </p:txBody>
      </p:sp>
      <p:sp>
        <p:nvSpPr>
          <p:cNvPr id="17" name="Text 15"/>
          <p:cNvSpPr txBox="1"/>
          <p:nvPr/>
        </p:nvSpPr>
        <p:spPr>
          <a:xfrm>
            <a:off x="566928" y="5870448"/>
            <a:ext cx="11057839" cy="457200"/>
          </a:xfrm>
          <a:prstGeom prst="rect">
            <a:avLst/>
          </a:prstGeom>
          <a:noFill/>
          <a:ln/>
        </p:spPr>
        <p:txBody>
          <a:bodyPr wrap="square" lIns="0" tIns="0" rIns="0" bIns="0" rtlCol="0" anchor="t"/>
          <a:lstStyle/>
          <a:p>
            <a:pPr indent="0" marL="0">
              <a:lnSpc>
                <a:spcPts val="1650"/>
              </a:lnSpc>
              <a:buNone/>
            </a:pPr>
            <a:r>
              <a:rPr lang="en-US" sz="1250" dirty="0">
                <a:solidFill>
                  <a:srgbClr val="5D6F68"/>
                </a:solidFill>
                <a:latin typeface="Calibri" pitchFamily="34" charset="0"/>
                <a:ea typeface="Calibri" pitchFamily="34" charset="-122"/>
                <a:cs typeface="Calibri" pitchFamily="34" charset="-120"/>
              </a:rPr>
              <a:t>The two devices exchange this directly. None of it passes through our server.</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200" kern="0" dirty="0">
                <a:solidFill>
                  <a:srgbClr val="0A4A3A"/>
                </a:solidFill>
                <a:latin typeface="Calibri" pitchFamily="34" charset="0"/>
                <a:ea typeface="Calibri" pitchFamily="34" charset="-122"/>
                <a:cs typeface="Calibri" pitchFamily="34" charset="-120"/>
              </a:rPr>
              <a:t>ASSESSMENT · 20 POINTS</a:t>
            </a:r>
            <a:endParaRPr lang="en-US" sz="1100" dirty="0"/>
          </a:p>
        </p:txBody>
      </p:sp>
      <p:sp>
        <p:nvSpPr>
          <p:cNvPr id="3" name="Text 1"/>
          <p:cNvSpPr txBox="1"/>
          <p:nvPr/>
        </p:nvSpPr>
        <p:spPr>
          <a:xfrm>
            <a:off x="566928" y="640080"/>
            <a:ext cx="11057839" cy="658368"/>
          </a:xfrm>
          <a:prstGeom prst="rect">
            <a:avLst/>
          </a:prstGeom>
          <a:noFill/>
          <a:ln/>
        </p:spPr>
        <p:txBody>
          <a:bodyPr wrap="square" lIns="0" tIns="0" rIns="0" bIns="0" rtlCol="0" anchor="ctr"/>
          <a:lstStyle/>
          <a:p>
            <a:pPr indent="0" marL="0">
              <a:buNone/>
            </a:pPr>
            <a:r>
              <a:rPr lang="en-US" sz="3400" b="1" dirty="0">
                <a:solidFill>
                  <a:srgbClr val="0F1F1A"/>
                </a:solidFill>
                <a:latin typeface="Cambria" pitchFamily="34" charset="0"/>
                <a:ea typeface="Cambria" pitchFamily="34" charset="-122"/>
                <a:cs typeface="Cambria" pitchFamily="34" charset="-120"/>
              </a:rPr>
              <a:t>Accessibility and inclusion</a:t>
            </a:r>
            <a:endParaRPr lang="en-US" sz="3400" dirty="0"/>
          </a:p>
        </p:txBody>
      </p:sp>
      <p:sp>
        <p:nvSpPr>
          <p:cNvPr id="4" name="Text 2"/>
          <p:cNvSpPr txBox="1"/>
          <p:nvPr/>
        </p:nvSpPr>
        <p:spPr>
          <a:xfrm>
            <a:off x="566928" y="1335024"/>
            <a:ext cx="9960559" cy="384048"/>
          </a:xfrm>
          <a:prstGeom prst="rect">
            <a:avLst/>
          </a:prstGeom>
          <a:noFill/>
          <a:ln/>
        </p:spPr>
        <p:txBody>
          <a:bodyPr wrap="square" lIns="0" tIns="0" rIns="0" bIns="0" rtlCol="0" anchor="ctr"/>
          <a:lstStyle/>
          <a:p>
            <a:pPr indent="0" marL="0">
              <a:buNone/>
            </a:pPr>
            <a:r>
              <a:rPr lang="en-US" sz="1400" dirty="0">
                <a:solidFill>
                  <a:srgbClr val="5D6F68"/>
                </a:solidFill>
                <a:latin typeface="Calibri" pitchFamily="34" charset="0"/>
                <a:ea typeface="Calibri" pitchFamily="34" charset="-122"/>
                <a:cs typeface="Calibri" pitchFamily="34" charset="-120"/>
              </a:rPr>
              <a:t>Designed for a patient who may read nothing at all.</a:t>
            </a:r>
            <a:endParaRPr lang="en-US" sz="1400" dirty="0"/>
          </a:p>
        </p:txBody>
      </p:sp>
      <p:sp>
        <p:nvSpPr>
          <p:cNvPr id="5" name="Text 3"/>
          <p:cNvSpPr txBox="1"/>
          <p:nvPr/>
        </p:nvSpPr>
        <p:spPr>
          <a:xfrm>
            <a:off x="566928" y="6382512"/>
            <a:ext cx="3657600" cy="237744"/>
          </a:xfrm>
          <a:prstGeom prst="rect">
            <a:avLst/>
          </a:prstGeom>
          <a:noFill/>
          <a:ln/>
        </p:spPr>
        <p:txBody>
          <a:bodyPr wrap="square" lIns="0" tIns="0" rIns="0" bIns="0" rtlCol="0" anchor="ctr"/>
          <a:lstStyle/>
          <a:p>
            <a:pPr indent="0" marL="0">
              <a:buNone/>
            </a:pPr>
            <a:r>
              <a:rPr lang="en-US" sz="950" dirty="0">
                <a:solidFill>
                  <a:srgbClr val="5D6F68"/>
                </a:solidFill>
                <a:latin typeface="Calibri" pitchFamily="34" charset="0"/>
                <a:ea typeface="Calibri" pitchFamily="34" charset="-122"/>
                <a:cs typeface="Calibri" pitchFamily="34" charset="-120"/>
              </a:rPr>
              <a:t>Tie Me Ghana</a:t>
            </a:r>
            <a:endParaRPr lang="en-US" sz="950" dirty="0"/>
          </a:p>
        </p:txBody>
      </p:sp>
      <p:sp>
        <p:nvSpPr>
          <p:cNvPr id="6" name="Text 4"/>
          <p:cNvSpPr txBox="1"/>
          <p:nvPr/>
        </p:nvSpPr>
        <p:spPr>
          <a:xfrm>
            <a:off x="10710367" y="6382512"/>
            <a:ext cx="914400" cy="237744"/>
          </a:xfrm>
          <a:prstGeom prst="rect">
            <a:avLst/>
          </a:prstGeom>
          <a:noFill/>
          <a:ln/>
        </p:spPr>
        <p:txBody>
          <a:bodyPr wrap="square" lIns="0" tIns="0" rIns="0" bIns="0" rtlCol="0" anchor="ctr"/>
          <a:lstStyle/>
          <a:p>
            <a:pPr algn="r" indent="0" marL="0">
              <a:buNone/>
            </a:pPr>
            <a:r>
              <a:rPr lang="en-US" sz="950" dirty="0">
                <a:solidFill>
                  <a:srgbClr val="5D6F68"/>
                </a:solidFill>
                <a:latin typeface="Calibri" pitchFamily="34" charset="0"/>
                <a:ea typeface="Calibri" pitchFamily="34" charset="-122"/>
                <a:cs typeface="Calibri" pitchFamily="34" charset="-120"/>
              </a:rPr>
              <a:t>9</a:t>
            </a:r>
            <a:endParaRPr lang="en-US" sz="950" dirty="0"/>
          </a:p>
        </p:txBody>
      </p:sp>
      <p:sp>
        <p:nvSpPr>
          <p:cNvPr id="7" name="Shape 5"/>
          <p:cNvSpPr/>
          <p:nvPr/>
        </p:nvSpPr>
        <p:spPr>
          <a:xfrm>
            <a:off x="566928" y="1993392"/>
            <a:ext cx="5413248" cy="1188720"/>
          </a:xfrm>
          <a:prstGeom prst="roundRect">
            <a:avLst>
              <a:gd name="adj" fmla="val 6154"/>
            </a:avLst>
          </a:prstGeom>
          <a:solidFill>
            <a:srgbClr val="F4F8F6"/>
          </a:solidFill>
          <a:ln w="12700">
            <a:solidFill>
              <a:srgbClr val="D8E2DE"/>
            </a:solidFill>
            <a:prstDash val="solid"/>
          </a:ln>
        </p:spPr>
      </p:sp>
      <p:sp>
        <p:nvSpPr>
          <p:cNvPr id="8" name="Text 6"/>
          <p:cNvSpPr txBox="1"/>
          <p:nvPr/>
        </p:nvSpPr>
        <p:spPr>
          <a:xfrm>
            <a:off x="804672" y="2139696"/>
            <a:ext cx="3840480" cy="274320"/>
          </a:xfrm>
          <a:prstGeom prst="rect">
            <a:avLst/>
          </a:prstGeom>
          <a:noFill/>
          <a:ln/>
        </p:spPr>
        <p:txBody>
          <a:bodyPr wrap="square" lIns="0" tIns="0" rIns="0" bIns="0" rtlCol="0" anchor="ctr"/>
          <a:lstStyle/>
          <a:p>
            <a:pPr indent="0" marL="0">
              <a:buNone/>
            </a:pPr>
            <a:r>
              <a:rPr lang="en-US" sz="1300" b="1" dirty="0">
                <a:solidFill>
                  <a:srgbClr val="0B3D2E"/>
                </a:solidFill>
                <a:latin typeface="Cambria" pitchFamily="34" charset="0"/>
                <a:ea typeface="Cambria" pitchFamily="34" charset="-122"/>
                <a:cs typeface="Cambria" pitchFamily="34" charset="-120"/>
              </a:rPr>
              <a:t>Nothing depends on reading</a:t>
            </a:r>
            <a:endParaRPr lang="en-US" sz="1300" dirty="0"/>
          </a:p>
        </p:txBody>
      </p:sp>
      <p:sp>
        <p:nvSpPr>
          <p:cNvPr id="9" name="Text 7"/>
          <p:cNvSpPr txBox="1"/>
          <p:nvPr/>
        </p:nvSpPr>
        <p:spPr>
          <a:xfrm>
            <a:off x="804672" y="2468880"/>
            <a:ext cx="4937760" cy="658368"/>
          </a:xfrm>
          <a:prstGeom prst="rect">
            <a:avLst/>
          </a:prstGeom>
          <a:noFill/>
          <a:ln/>
        </p:spPr>
        <p:txBody>
          <a:bodyPr wrap="square" lIns="0" tIns="0" rIns="0" bIns="0" rtlCol="0" anchor="t"/>
          <a:lstStyle/>
          <a:p>
            <a:pPr indent="0" marL="0">
              <a:lnSpc>
                <a:spcPts val="1386"/>
              </a:lnSpc>
              <a:buNone/>
            </a:pPr>
            <a:r>
              <a:rPr lang="en-US" sz="1050" dirty="0">
                <a:solidFill>
                  <a:srgbClr val="5D6F68"/>
                </a:solidFill>
                <a:latin typeface="Calibri" pitchFamily="34" charset="0"/>
                <a:ea typeface="Calibri" pitchFamily="34" charset="-122"/>
                <a:cs typeface="Calibri" pitchFamily="34" charset="-120"/>
              </a:rPr>
              <a:t>Questions are signed, answers are tapped. Even the Yes and No buttons carry their own sign clips.</a:t>
            </a:r>
            <a:endParaRPr lang="en-US" sz="1050" dirty="0"/>
          </a:p>
        </p:txBody>
      </p:sp>
      <p:sp>
        <p:nvSpPr>
          <p:cNvPr id="10" name="Shape 8"/>
          <p:cNvSpPr/>
          <p:nvPr/>
        </p:nvSpPr>
        <p:spPr>
          <a:xfrm>
            <a:off x="4681728" y="2130552"/>
            <a:ext cx="1298448" cy="256032"/>
          </a:xfrm>
          <a:prstGeom prst="roundRect">
            <a:avLst>
              <a:gd name="adj" fmla="val 50000"/>
            </a:avLst>
          </a:prstGeom>
          <a:solidFill>
            <a:srgbClr val="0B3D2E"/>
          </a:solidFill>
          <a:ln/>
        </p:spPr>
      </p:sp>
      <p:sp>
        <p:nvSpPr>
          <p:cNvPr id="11" name="Text 9"/>
          <p:cNvSpPr txBox="1"/>
          <p:nvPr/>
        </p:nvSpPr>
        <p:spPr>
          <a:xfrm>
            <a:off x="4681728" y="2130552"/>
            <a:ext cx="1298448" cy="256032"/>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WORKING NOW</a:t>
            </a:r>
            <a:endParaRPr lang="en-US" sz="900" dirty="0"/>
          </a:p>
        </p:txBody>
      </p:sp>
      <p:sp>
        <p:nvSpPr>
          <p:cNvPr id="12" name="Shape 10"/>
          <p:cNvSpPr/>
          <p:nvPr/>
        </p:nvSpPr>
        <p:spPr>
          <a:xfrm>
            <a:off x="6217920" y="1993392"/>
            <a:ext cx="5413248" cy="1188720"/>
          </a:xfrm>
          <a:prstGeom prst="roundRect">
            <a:avLst>
              <a:gd name="adj" fmla="val 6154"/>
            </a:avLst>
          </a:prstGeom>
          <a:solidFill>
            <a:srgbClr val="F4F8F6"/>
          </a:solidFill>
          <a:ln w="12700">
            <a:solidFill>
              <a:srgbClr val="D8E2DE"/>
            </a:solidFill>
            <a:prstDash val="solid"/>
          </a:ln>
        </p:spPr>
      </p:sp>
      <p:sp>
        <p:nvSpPr>
          <p:cNvPr id="13" name="Text 11"/>
          <p:cNvSpPr txBox="1"/>
          <p:nvPr/>
        </p:nvSpPr>
        <p:spPr>
          <a:xfrm>
            <a:off x="6455664" y="2139696"/>
            <a:ext cx="3840480" cy="274320"/>
          </a:xfrm>
          <a:prstGeom prst="rect">
            <a:avLst/>
          </a:prstGeom>
          <a:noFill/>
          <a:ln/>
        </p:spPr>
        <p:txBody>
          <a:bodyPr wrap="square" lIns="0" tIns="0" rIns="0" bIns="0" rtlCol="0" anchor="ctr"/>
          <a:lstStyle/>
          <a:p>
            <a:pPr indent="0" marL="0">
              <a:buNone/>
            </a:pPr>
            <a:r>
              <a:rPr lang="en-US" sz="1300" b="1" dirty="0">
                <a:solidFill>
                  <a:srgbClr val="0B3D2E"/>
                </a:solidFill>
                <a:latin typeface="Cambria" pitchFamily="34" charset="0"/>
                <a:ea typeface="Cambria" pitchFamily="34" charset="-122"/>
                <a:cs typeface="Cambria" pitchFamily="34" charset="-120"/>
              </a:rPr>
              <a:t>The literacy question is asked, not assumed</a:t>
            </a:r>
            <a:endParaRPr lang="en-US" sz="1300" dirty="0"/>
          </a:p>
        </p:txBody>
      </p:sp>
      <p:sp>
        <p:nvSpPr>
          <p:cNvPr id="14" name="Text 12"/>
          <p:cNvSpPr txBox="1"/>
          <p:nvPr/>
        </p:nvSpPr>
        <p:spPr>
          <a:xfrm>
            <a:off x="6455664" y="2468880"/>
            <a:ext cx="4937760" cy="658368"/>
          </a:xfrm>
          <a:prstGeom prst="rect">
            <a:avLst/>
          </a:prstGeom>
          <a:noFill/>
          <a:ln/>
        </p:spPr>
        <p:txBody>
          <a:bodyPr wrap="square" lIns="0" tIns="0" rIns="0" bIns="0" rtlCol="0" anchor="t"/>
          <a:lstStyle/>
          <a:p>
            <a:pPr indent="0" marL="0">
              <a:lnSpc>
                <a:spcPts val="1386"/>
              </a:lnSpc>
              <a:buNone/>
            </a:pPr>
            <a:r>
              <a:rPr lang="en-US" sz="1050" dirty="0">
                <a:solidFill>
                  <a:srgbClr val="5D6F68"/>
                </a:solidFill>
                <a:latin typeface="Calibri" pitchFamily="34" charset="0"/>
                <a:ea typeface="Calibri" pitchFamily="34" charset="-122"/>
                <a:cs typeface="Calibri" pitchFamily="34" charset="-120"/>
              </a:rPr>
              <a:t>It is shown in sign on the patient's own phone, so she answers it herself instead of a nurse guessing for her.</a:t>
            </a:r>
            <a:endParaRPr lang="en-US" sz="1050" dirty="0"/>
          </a:p>
        </p:txBody>
      </p:sp>
      <p:sp>
        <p:nvSpPr>
          <p:cNvPr id="15" name="Shape 13"/>
          <p:cNvSpPr/>
          <p:nvPr/>
        </p:nvSpPr>
        <p:spPr>
          <a:xfrm>
            <a:off x="10332720" y="2130552"/>
            <a:ext cx="1298448" cy="256032"/>
          </a:xfrm>
          <a:prstGeom prst="roundRect">
            <a:avLst>
              <a:gd name="adj" fmla="val 50000"/>
            </a:avLst>
          </a:prstGeom>
          <a:solidFill>
            <a:srgbClr val="0B3D2E"/>
          </a:solidFill>
          <a:ln/>
        </p:spPr>
      </p:sp>
      <p:sp>
        <p:nvSpPr>
          <p:cNvPr id="16" name="Text 14"/>
          <p:cNvSpPr txBox="1"/>
          <p:nvPr/>
        </p:nvSpPr>
        <p:spPr>
          <a:xfrm>
            <a:off x="10332720" y="2130552"/>
            <a:ext cx="1298448" cy="256032"/>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WORKING NOW</a:t>
            </a:r>
            <a:endParaRPr lang="en-US" sz="900" dirty="0"/>
          </a:p>
        </p:txBody>
      </p:sp>
      <p:sp>
        <p:nvSpPr>
          <p:cNvPr id="17" name="Shape 15"/>
          <p:cNvSpPr/>
          <p:nvPr/>
        </p:nvSpPr>
        <p:spPr>
          <a:xfrm>
            <a:off x="566928" y="3328416"/>
            <a:ext cx="5413248" cy="1188720"/>
          </a:xfrm>
          <a:prstGeom prst="roundRect">
            <a:avLst>
              <a:gd name="adj" fmla="val 6154"/>
            </a:avLst>
          </a:prstGeom>
          <a:solidFill>
            <a:srgbClr val="F4F8F6"/>
          </a:solidFill>
          <a:ln w="12700">
            <a:solidFill>
              <a:srgbClr val="D8E2DE"/>
            </a:solidFill>
            <a:prstDash val="solid"/>
          </a:ln>
        </p:spPr>
      </p:sp>
      <p:sp>
        <p:nvSpPr>
          <p:cNvPr id="18" name="Text 16"/>
          <p:cNvSpPr txBox="1"/>
          <p:nvPr/>
        </p:nvSpPr>
        <p:spPr>
          <a:xfrm>
            <a:off x="804672" y="3474720"/>
            <a:ext cx="3840480" cy="274320"/>
          </a:xfrm>
          <a:prstGeom prst="rect">
            <a:avLst/>
          </a:prstGeom>
          <a:noFill/>
          <a:ln/>
        </p:spPr>
        <p:txBody>
          <a:bodyPr wrap="square" lIns="0" tIns="0" rIns="0" bIns="0" rtlCol="0" anchor="ctr"/>
          <a:lstStyle/>
          <a:p>
            <a:pPr indent="0" marL="0">
              <a:buNone/>
            </a:pPr>
            <a:r>
              <a:rPr lang="en-US" sz="1300" b="1" dirty="0">
                <a:solidFill>
                  <a:srgbClr val="0B3D2E"/>
                </a:solidFill>
                <a:latin typeface="Cambria" pitchFamily="34" charset="0"/>
                <a:ea typeface="Cambria" pitchFamily="34" charset="-122"/>
                <a:cs typeface="Cambria" pitchFamily="34" charset="-120"/>
              </a:rPr>
              <a:t>Nothing depends on colour alone</a:t>
            </a:r>
            <a:endParaRPr lang="en-US" sz="1300" dirty="0"/>
          </a:p>
        </p:txBody>
      </p:sp>
      <p:sp>
        <p:nvSpPr>
          <p:cNvPr id="19" name="Text 17"/>
          <p:cNvSpPr txBox="1"/>
          <p:nvPr/>
        </p:nvSpPr>
        <p:spPr>
          <a:xfrm>
            <a:off x="804672" y="3803904"/>
            <a:ext cx="4937760" cy="658368"/>
          </a:xfrm>
          <a:prstGeom prst="rect">
            <a:avLst/>
          </a:prstGeom>
          <a:noFill/>
          <a:ln/>
        </p:spPr>
        <p:txBody>
          <a:bodyPr wrap="square" lIns="0" tIns="0" rIns="0" bIns="0" rtlCol="0" anchor="t"/>
          <a:lstStyle/>
          <a:p>
            <a:pPr indent="0" marL="0">
              <a:lnSpc>
                <a:spcPts val="1386"/>
              </a:lnSpc>
              <a:buNone/>
            </a:pPr>
            <a:r>
              <a:rPr lang="en-US" sz="1050" dirty="0">
                <a:solidFill>
                  <a:srgbClr val="5D6F68"/>
                </a:solidFill>
                <a:latin typeface="Calibri" pitchFamily="34" charset="0"/>
                <a:ea typeface="Calibri" pitchFamily="34" charset="-122"/>
                <a:cs typeface="Calibri" pitchFamily="34" charset="-120"/>
              </a:rPr>
              <a:t>Each half of a shared screen carries a heading, a hint and a differently shaped mark, for bright sunlight and for colour blind staff.</a:t>
            </a:r>
            <a:endParaRPr lang="en-US" sz="1050" dirty="0"/>
          </a:p>
        </p:txBody>
      </p:sp>
      <p:sp>
        <p:nvSpPr>
          <p:cNvPr id="20" name="Shape 18"/>
          <p:cNvSpPr/>
          <p:nvPr/>
        </p:nvSpPr>
        <p:spPr>
          <a:xfrm>
            <a:off x="4681728" y="3465576"/>
            <a:ext cx="1298448" cy="256032"/>
          </a:xfrm>
          <a:prstGeom prst="roundRect">
            <a:avLst>
              <a:gd name="adj" fmla="val 50000"/>
            </a:avLst>
          </a:prstGeom>
          <a:solidFill>
            <a:srgbClr val="0B3D2E"/>
          </a:solidFill>
          <a:ln/>
        </p:spPr>
      </p:sp>
      <p:sp>
        <p:nvSpPr>
          <p:cNvPr id="21" name="Text 19"/>
          <p:cNvSpPr txBox="1"/>
          <p:nvPr/>
        </p:nvSpPr>
        <p:spPr>
          <a:xfrm>
            <a:off x="4681728" y="3465576"/>
            <a:ext cx="1298448" cy="256032"/>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WORKING NOW</a:t>
            </a:r>
            <a:endParaRPr lang="en-US" sz="900" dirty="0"/>
          </a:p>
        </p:txBody>
      </p:sp>
      <p:sp>
        <p:nvSpPr>
          <p:cNvPr id="22" name="Shape 20"/>
          <p:cNvSpPr/>
          <p:nvPr/>
        </p:nvSpPr>
        <p:spPr>
          <a:xfrm>
            <a:off x="6217920" y="3328416"/>
            <a:ext cx="5413248" cy="1188720"/>
          </a:xfrm>
          <a:prstGeom prst="roundRect">
            <a:avLst>
              <a:gd name="adj" fmla="val 6154"/>
            </a:avLst>
          </a:prstGeom>
          <a:solidFill>
            <a:srgbClr val="F4F8F6"/>
          </a:solidFill>
          <a:ln w="12700">
            <a:solidFill>
              <a:srgbClr val="D8E2DE"/>
            </a:solidFill>
            <a:prstDash val="solid"/>
          </a:ln>
        </p:spPr>
      </p:sp>
      <p:sp>
        <p:nvSpPr>
          <p:cNvPr id="23" name="Text 21"/>
          <p:cNvSpPr txBox="1"/>
          <p:nvPr/>
        </p:nvSpPr>
        <p:spPr>
          <a:xfrm>
            <a:off x="6455664" y="3474720"/>
            <a:ext cx="3840480" cy="274320"/>
          </a:xfrm>
          <a:prstGeom prst="rect">
            <a:avLst/>
          </a:prstGeom>
          <a:noFill/>
          <a:ln/>
        </p:spPr>
        <p:txBody>
          <a:bodyPr wrap="square" lIns="0" tIns="0" rIns="0" bIns="0" rtlCol="0" anchor="ctr"/>
          <a:lstStyle/>
          <a:p>
            <a:pPr indent="0" marL="0">
              <a:buNone/>
            </a:pPr>
            <a:r>
              <a:rPr lang="en-US" sz="1300" b="1" dirty="0">
                <a:solidFill>
                  <a:srgbClr val="0B3D2E"/>
                </a:solidFill>
                <a:latin typeface="Cambria" pitchFamily="34" charset="0"/>
                <a:ea typeface="Cambria" pitchFamily="34" charset="-122"/>
                <a:cs typeface="Cambria" pitchFamily="34" charset="-120"/>
              </a:rPr>
              <a:t>Nothing depends on hearing</a:t>
            </a:r>
            <a:endParaRPr lang="en-US" sz="1300" dirty="0"/>
          </a:p>
        </p:txBody>
      </p:sp>
      <p:sp>
        <p:nvSpPr>
          <p:cNvPr id="24" name="Text 22"/>
          <p:cNvSpPr txBox="1"/>
          <p:nvPr/>
        </p:nvSpPr>
        <p:spPr>
          <a:xfrm>
            <a:off x="6455664" y="3803904"/>
            <a:ext cx="4937760" cy="658368"/>
          </a:xfrm>
          <a:prstGeom prst="rect">
            <a:avLst/>
          </a:prstGeom>
          <a:noFill/>
          <a:ln/>
        </p:spPr>
        <p:txBody>
          <a:bodyPr wrap="square" lIns="0" tIns="0" rIns="0" bIns="0" rtlCol="0" anchor="t"/>
          <a:lstStyle/>
          <a:p>
            <a:pPr indent="0" marL="0">
              <a:lnSpc>
                <a:spcPts val="1386"/>
              </a:lnSpc>
              <a:buNone/>
            </a:pPr>
            <a:r>
              <a:rPr lang="en-US" sz="1050" dirty="0">
                <a:solidFill>
                  <a:srgbClr val="5D6F68"/>
                </a:solidFill>
                <a:latin typeface="Calibri" pitchFamily="34" charset="0"/>
                <a:ea typeface="Calibri" pitchFamily="34" charset="-122"/>
                <a:cs typeface="Calibri" pitchFamily="34" charset="-120"/>
              </a:rPr>
              <a:t>Vibration and visible state replace every sound cue. The app never relies on a chime.</a:t>
            </a:r>
            <a:endParaRPr lang="en-US" sz="1050" dirty="0"/>
          </a:p>
        </p:txBody>
      </p:sp>
      <p:sp>
        <p:nvSpPr>
          <p:cNvPr id="25" name="Shape 23"/>
          <p:cNvSpPr/>
          <p:nvPr/>
        </p:nvSpPr>
        <p:spPr>
          <a:xfrm>
            <a:off x="10332720" y="3465576"/>
            <a:ext cx="1298448" cy="256032"/>
          </a:xfrm>
          <a:prstGeom prst="roundRect">
            <a:avLst>
              <a:gd name="adj" fmla="val 50000"/>
            </a:avLst>
          </a:prstGeom>
          <a:solidFill>
            <a:srgbClr val="0B3D2E"/>
          </a:solidFill>
          <a:ln/>
        </p:spPr>
      </p:sp>
      <p:sp>
        <p:nvSpPr>
          <p:cNvPr id="26" name="Text 24"/>
          <p:cNvSpPr txBox="1"/>
          <p:nvPr/>
        </p:nvSpPr>
        <p:spPr>
          <a:xfrm>
            <a:off x="10332720" y="3465576"/>
            <a:ext cx="1298448" cy="256032"/>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WORKING NOW</a:t>
            </a:r>
            <a:endParaRPr lang="en-US" sz="900" dirty="0"/>
          </a:p>
        </p:txBody>
      </p:sp>
      <p:sp>
        <p:nvSpPr>
          <p:cNvPr id="27" name="Shape 25"/>
          <p:cNvSpPr/>
          <p:nvPr/>
        </p:nvSpPr>
        <p:spPr>
          <a:xfrm>
            <a:off x="566928" y="4663440"/>
            <a:ext cx="5413248" cy="1188720"/>
          </a:xfrm>
          <a:prstGeom prst="roundRect">
            <a:avLst>
              <a:gd name="adj" fmla="val 6154"/>
            </a:avLst>
          </a:prstGeom>
          <a:solidFill>
            <a:srgbClr val="F4F8F6"/>
          </a:solidFill>
          <a:ln w="12700">
            <a:solidFill>
              <a:srgbClr val="D8E2DE"/>
            </a:solidFill>
            <a:prstDash val="solid"/>
          </a:ln>
        </p:spPr>
      </p:sp>
      <p:sp>
        <p:nvSpPr>
          <p:cNvPr id="28" name="Text 26"/>
          <p:cNvSpPr txBox="1"/>
          <p:nvPr/>
        </p:nvSpPr>
        <p:spPr>
          <a:xfrm>
            <a:off x="804672" y="4809744"/>
            <a:ext cx="3840480" cy="274320"/>
          </a:xfrm>
          <a:prstGeom prst="rect">
            <a:avLst/>
          </a:prstGeom>
          <a:noFill/>
          <a:ln/>
        </p:spPr>
        <p:txBody>
          <a:bodyPr wrap="square" lIns="0" tIns="0" rIns="0" bIns="0" rtlCol="0" anchor="ctr"/>
          <a:lstStyle/>
          <a:p>
            <a:pPr indent="0" marL="0">
              <a:buNone/>
            </a:pPr>
            <a:r>
              <a:rPr lang="en-US" sz="1300" b="1" dirty="0">
                <a:solidFill>
                  <a:srgbClr val="0B3D2E"/>
                </a:solidFill>
                <a:latin typeface="Cambria" pitchFamily="34" charset="0"/>
                <a:ea typeface="Cambria" pitchFamily="34" charset="-122"/>
                <a:cs typeface="Cambria" pitchFamily="34" charset="-120"/>
              </a:rPr>
              <a:t>The poorer patient is not downgraded</a:t>
            </a:r>
            <a:endParaRPr lang="en-US" sz="1300" dirty="0"/>
          </a:p>
        </p:txBody>
      </p:sp>
      <p:sp>
        <p:nvSpPr>
          <p:cNvPr id="29" name="Text 27"/>
          <p:cNvSpPr txBox="1"/>
          <p:nvPr/>
        </p:nvSpPr>
        <p:spPr>
          <a:xfrm>
            <a:off x="804672" y="5138928"/>
            <a:ext cx="4937760" cy="658368"/>
          </a:xfrm>
          <a:prstGeom prst="rect">
            <a:avLst/>
          </a:prstGeom>
          <a:noFill/>
          <a:ln/>
        </p:spPr>
        <p:txBody>
          <a:bodyPr wrap="square" lIns="0" tIns="0" rIns="0" bIns="0" rtlCol="0" anchor="t"/>
          <a:lstStyle/>
          <a:p>
            <a:pPr indent="0" marL="0">
              <a:lnSpc>
                <a:spcPts val="1386"/>
              </a:lnSpc>
              <a:buNone/>
            </a:pPr>
            <a:r>
              <a:rPr lang="en-US" sz="1050" dirty="0">
                <a:solidFill>
                  <a:srgbClr val="5D6F68"/>
                </a:solidFill>
                <a:latin typeface="Calibri" pitchFamily="34" charset="0"/>
                <a:ea typeface="Calibri" pitchFamily="34" charset="-122"/>
                <a:cs typeface="Calibri" pitchFamily="34" charset="-120"/>
              </a:rPr>
              <a:t>One phone or two, it is the same app and the same questions. The no-phone path is not a cut-down version.</a:t>
            </a:r>
            <a:endParaRPr lang="en-US" sz="1050" dirty="0"/>
          </a:p>
        </p:txBody>
      </p:sp>
      <p:sp>
        <p:nvSpPr>
          <p:cNvPr id="30" name="Shape 28"/>
          <p:cNvSpPr/>
          <p:nvPr/>
        </p:nvSpPr>
        <p:spPr>
          <a:xfrm>
            <a:off x="4681728" y="4800600"/>
            <a:ext cx="1298448" cy="256032"/>
          </a:xfrm>
          <a:prstGeom prst="roundRect">
            <a:avLst>
              <a:gd name="adj" fmla="val 50000"/>
            </a:avLst>
          </a:prstGeom>
          <a:solidFill>
            <a:srgbClr val="0B3D2E"/>
          </a:solidFill>
          <a:ln/>
        </p:spPr>
      </p:sp>
      <p:sp>
        <p:nvSpPr>
          <p:cNvPr id="31" name="Text 29"/>
          <p:cNvSpPr txBox="1"/>
          <p:nvPr/>
        </p:nvSpPr>
        <p:spPr>
          <a:xfrm>
            <a:off x="4681728" y="4800600"/>
            <a:ext cx="1298448" cy="256032"/>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WORKING NOW</a:t>
            </a:r>
            <a:endParaRPr lang="en-US" sz="900" dirty="0"/>
          </a:p>
        </p:txBody>
      </p:sp>
      <p:sp>
        <p:nvSpPr>
          <p:cNvPr id="32" name="Shape 30"/>
          <p:cNvSpPr/>
          <p:nvPr/>
        </p:nvSpPr>
        <p:spPr>
          <a:xfrm>
            <a:off x="6217920" y="4663440"/>
            <a:ext cx="5413248" cy="1188720"/>
          </a:xfrm>
          <a:prstGeom prst="roundRect">
            <a:avLst>
              <a:gd name="adj" fmla="val 6154"/>
            </a:avLst>
          </a:prstGeom>
          <a:solidFill>
            <a:srgbClr val="F4F8F6"/>
          </a:solidFill>
          <a:ln w="12700">
            <a:solidFill>
              <a:srgbClr val="D8E2DE"/>
            </a:solidFill>
            <a:prstDash val="solid"/>
          </a:ln>
        </p:spPr>
      </p:sp>
      <p:sp>
        <p:nvSpPr>
          <p:cNvPr id="33" name="Text 31"/>
          <p:cNvSpPr txBox="1"/>
          <p:nvPr/>
        </p:nvSpPr>
        <p:spPr>
          <a:xfrm>
            <a:off x="6455664" y="4809744"/>
            <a:ext cx="3840480" cy="274320"/>
          </a:xfrm>
          <a:prstGeom prst="rect">
            <a:avLst/>
          </a:prstGeom>
          <a:noFill/>
          <a:ln/>
        </p:spPr>
        <p:txBody>
          <a:bodyPr wrap="square" lIns="0" tIns="0" rIns="0" bIns="0" rtlCol="0" anchor="ctr"/>
          <a:lstStyle/>
          <a:p>
            <a:pPr indent="0" marL="0">
              <a:buNone/>
            </a:pPr>
            <a:r>
              <a:rPr lang="en-US" sz="1300" b="1" dirty="0">
                <a:solidFill>
                  <a:srgbClr val="0B3D2E"/>
                </a:solidFill>
                <a:latin typeface="Cambria" pitchFamily="34" charset="0"/>
                <a:ea typeface="Cambria" pitchFamily="34" charset="-122"/>
                <a:cs typeface="Cambria" pitchFamily="34" charset="-120"/>
              </a:rPr>
              <a:t>Emergency is reachable first</a:t>
            </a:r>
            <a:endParaRPr lang="en-US" sz="1300" dirty="0"/>
          </a:p>
        </p:txBody>
      </p:sp>
      <p:sp>
        <p:nvSpPr>
          <p:cNvPr id="34" name="Text 32"/>
          <p:cNvSpPr txBox="1"/>
          <p:nvPr/>
        </p:nvSpPr>
        <p:spPr>
          <a:xfrm>
            <a:off x="6455664" y="5138928"/>
            <a:ext cx="4937760" cy="658368"/>
          </a:xfrm>
          <a:prstGeom prst="rect">
            <a:avLst/>
          </a:prstGeom>
          <a:noFill/>
          <a:ln/>
        </p:spPr>
        <p:txBody>
          <a:bodyPr wrap="square" lIns="0" tIns="0" rIns="0" bIns="0" rtlCol="0" anchor="t"/>
          <a:lstStyle/>
          <a:p>
            <a:pPr indent="0" marL="0">
              <a:lnSpc>
                <a:spcPts val="1386"/>
              </a:lnSpc>
              <a:buNone/>
            </a:pPr>
            <a:r>
              <a:rPr lang="en-US" sz="1050" dirty="0">
                <a:solidFill>
                  <a:srgbClr val="5D6F68"/>
                </a:solidFill>
                <a:latin typeface="Calibri" pitchFamily="34" charset="0"/>
                <a:ea typeface="Calibri" pitchFamily="34" charset="-122"/>
                <a:cs typeface="Calibri" pitchFamily="34" charset="-120"/>
              </a:rPr>
              <a:t>The triage screen opens before any question is asked. You should not fill in a form to say you cannot breathe.</a:t>
            </a:r>
            <a:endParaRPr lang="en-US" sz="1050" dirty="0"/>
          </a:p>
        </p:txBody>
      </p:sp>
      <p:sp>
        <p:nvSpPr>
          <p:cNvPr id="35" name="Shape 33"/>
          <p:cNvSpPr/>
          <p:nvPr/>
        </p:nvSpPr>
        <p:spPr>
          <a:xfrm>
            <a:off x="10332720" y="4800600"/>
            <a:ext cx="1298448" cy="256032"/>
          </a:xfrm>
          <a:prstGeom prst="roundRect">
            <a:avLst>
              <a:gd name="adj" fmla="val 50000"/>
            </a:avLst>
          </a:prstGeom>
          <a:solidFill>
            <a:srgbClr val="0B3D2E"/>
          </a:solidFill>
          <a:ln/>
        </p:spPr>
      </p:sp>
      <p:sp>
        <p:nvSpPr>
          <p:cNvPr id="36" name="Text 34"/>
          <p:cNvSpPr txBox="1"/>
          <p:nvPr/>
        </p:nvSpPr>
        <p:spPr>
          <a:xfrm>
            <a:off x="10332720" y="4800600"/>
            <a:ext cx="1298448" cy="256032"/>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WORKING NOW</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200" kern="0" dirty="0">
                <a:solidFill>
                  <a:srgbClr val="0A4A3A"/>
                </a:solidFill>
                <a:latin typeface="Calibri" pitchFamily="34" charset="0"/>
                <a:ea typeface="Calibri" pitchFamily="34" charset="-122"/>
                <a:cs typeface="Calibri" pitchFamily="34" charset="-120"/>
              </a:rPr>
              <a:t>ASSESSMENT · 20 POINTS</a:t>
            </a:r>
            <a:endParaRPr lang="en-US" sz="1100" dirty="0"/>
          </a:p>
        </p:txBody>
      </p:sp>
      <p:sp>
        <p:nvSpPr>
          <p:cNvPr id="3" name="Text 1"/>
          <p:cNvSpPr txBox="1"/>
          <p:nvPr/>
        </p:nvSpPr>
        <p:spPr>
          <a:xfrm>
            <a:off x="566928" y="640080"/>
            <a:ext cx="11057839" cy="658368"/>
          </a:xfrm>
          <a:prstGeom prst="rect">
            <a:avLst/>
          </a:prstGeom>
          <a:noFill/>
          <a:ln/>
        </p:spPr>
        <p:txBody>
          <a:bodyPr wrap="square" lIns="0" tIns="0" rIns="0" bIns="0" rtlCol="0" anchor="ctr"/>
          <a:lstStyle/>
          <a:p>
            <a:pPr indent="0" marL="0">
              <a:buNone/>
            </a:pPr>
            <a:r>
              <a:rPr lang="en-US" sz="3400" b="1" dirty="0">
                <a:solidFill>
                  <a:srgbClr val="0F1F1A"/>
                </a:solidFill>
                <a:latin typeface="Cambria" pitchFamily="34" charset="0"/>
                <a:ea typeface="Cambria" pitchFamily="34" charset="-122"/>
                <a:cs typeface="Cambria" pitchFamily="34" charset="-120"/>
              </a:rPr>
              <a:t>Technical fit and implementation</a:t>
            </a:r>
            <a:endParaRPr lang="en-US" sz="3400" dirty="0"/>
          </a:p>
        </p:txBody>
      </p:sp>
      <p:sp>
        <p:nvSpPr>
          <p:cNvPr id="4" name="Text 2"/>
          <p:cNvSpPr txBox="1"/>
          <p:nvPr/>
        </p:nvSpPr>
        <p:spPr>
          <a:xfrm>
            <a:off x="566928" y="1335024"/>
            <a:ext cx="9960559" cy="384048"/>
          </a:xfrm>
          <a:prstGeom prst="rect">
            <a:avLst/>
          </a:prstGeom>
          <a:noFill/>
          <a:ln/>
        </p:spPr>
        <p:txBody>
          <a:bodyPr wrap="square" lIns="0" tIns="0" rIns="0" bIns="0" rtlCol="0" anchor="ctr"/>
          <a:lstStyle/>
          <a:p>
            <a:pPr indent="0" marL="0">
              <a:buNone/>
            </a:pPr>
            <a:r>
              <a:rPr lang="en-US" sz="1400" dirty="0">
                <a:solidFill>
                  <a:srgbClr val="5D6F68"/>
                </a:solidFill>
                <a:latin typeface="Calibri" pitchFamily="34" charset="0"/>
                <a:ea typeface="Calibri" pitchFamily="34" charset="-122"/>
                <a:cs typeface="Calibri" pitchFamily="34" charset="-120"/>
              </a:rPr>
              <a:t>Built to survive a hospital network, not a conference Wi-Fi.</a:t>
            </a:r>
            <a:endParaRPr lang="en-US" sz="1400" dirty="0"/>
          </a:p>
        </p:txBody>
      </p:sp>
      <p:sp>
        <p:nvSpPr>
          <p:cNvPr id="5" name="Text 3"/>
          <p:cNvSpPr txBox="1"/>
          <p:nvPr/>
        </p:nvSpPr>
        <p:spPr>
          <a:xfrm>
            <a:off x="566928" y="6382512"/>
            <a:ext cx="3657600" cy="237744"/>
          </a:xfrm>
          <a:prstGeom prst="rect">
            <a:avLst/>
          </a:prstGeom>
          <a:noFill/>
          <a:ln/>
        </p:spPr>
        <p:txBody>
          <a:bodyPr wrap="square" lIns="0" tIns="0" rIns="0" bIns="0" rtlCol="0" anchor="ctr"/>
          <a:lstStyle/>
          <a:p>
            <a:pPr indent="0" marL="0">
              <a:buNone/>
            </a:pPr>
            <a:r>
              <a:rPr lang="en-US" sz="950" dirty="0">
                <a:solidFill>
                  <a:srgbClr val="5D6F68"/>
                </a:solidFill>
                <a:latin typeface="Calibri" pitchFamily="34" charset="0"/>
                <a:ea typeface="Calibri" pitchFamily="34" charset="-122"/>
                <a:cs typeface="Calibri" pitchFamily="34" charset="-120"/>
              </a:rPr>
              <a:t>Tie Me Ghana</a:t>
            </a:r>
            <a:endParaRPr lang="en-US" sz="950" dirty="0"/>
          </a:p>
        </p:txBody>
      </p:sp>
      <p:sp>
        <p:nvSpPr>
          <p:cNvPr id="6" name="Text 4"/>
          <p:cNvSpPr txBox="1"/>
          <p:nvPr/>
        </p:nvSpPr>
        <p:spPr>
          <a:xfrm>
            <a:off x="10710367" y="6382512"/>
            <a:ext cx="914400" cy="237744"/>
          </a:xfrm>
          <a:prstGeom prst="rect">
            <a:avLst/>
          </a:prstGeom>
          <a:noFill/>
          <a:ln/>
        </p:spPr>
        <p:txBody>
          <a:bodyPr wrap="square" lIns="0" tIns="0" rIns="0" bIns="0" rtlCol="0" anchor="ctr"/>
          <a:lstStyle/>
          <a:p>
            <a:pPr algn="r" indent="0" marL="0">
              <a:buNone/>
            </a:pPr>
            <a:r>
              <a:rPr lang="en-US" sz="950" dirty="0">
                <a:solidFill>
                  <a:srgbClr val="5D6F68"/>
                </a:solidFill>
                <a:latin typeface="Calibri" pitchFamily="34" charset="0"/>
                <a:ea typeface="Calibri" pitchFamily="34" charset="-122"/>
                <a:cs typeface="Calibri" pitchFamily="34" charset="-120"/>
              </a:rPr>
              <a:t>10</a:t>
            </a:r>
            <a:endParaRPr lang="en-US" sz="950" dirty="0"/>
          </a:p>
        </p:txBody>
      </p:sp>
      <p:sp>
        <p:nvSpPr>
          <p:cNvPr id="7" name="Shape 5"/>
          <p:cNvSpPr/>
          <p:nvPr/>
        </p:nvSpPr>
        <p:spPr>
          <a:xfrm>
            <a:off x="566928" y="1993392"/>
            <a:ext cx="6903720" cy="1152144"/>
          </a:xfrm>
          <a:prstGeom prst="roundRect">
            <a:avLst>
              <a:gd name="adj" fmla="val 6349"/>
            </a:avLst>
          </a:prstGeom>
          <a:solidFill>
            <a:srgbClr val="F4F8F6"/>
          </a:solidFill>
          <a:ln w="12700">
            <a:solidFill>
              <a:srgbClr val="D8E2DE"/>
            </a:solidFill>
            <a:prstDash val="solid"/>
          </a:ln>
        </p:spPr>
      </p:sp>
      <p:sp>
        <p:nvSpPr>
          <p:cNvPr id="8" name="Text 6"/>
          <p:cNvSpPr txBox="1"/>
          <p:nvPr/>
        </p:nvSpPr>
        <p:spPr>
          <a:xfrm>
            <a:off x="822960" y="2148840"/>
            <a:ext cx="4937760" cy="274320"/>
          </a:xfrm>
          <a:prstGeom prst="rect">
            <a:avLst/>
          </a:prstGeom>
          <a:noFill/>
          <a:ln/>
        </p:spPr>
        <p:txBody>
          <a:bodyPr wrap="square" lIns="0" tIns="0" rIns="0" bIns="0" rtlCol="0" anchor="ctr"/>
          <a:lstStyle/>
          <a:p>
            <a:pPr indent="0" marL="0">
              <a:buNone/>
            </a:pPr>
            <a:r>
              <a:rPr lang="en-US" sz="1300" b="1" dirty="0">
                <a:solidFill>
                  <a:srgbClr val="0B3D2E"/>
                </a:solidFill>
                <a:latin typeface="Cambria" pitchFamily="34" charset="0"/>
                <a:ea typeface="Cambria" pitchFamily="34" charset="-122"/>
                <a:cs typeface="Cambria" pitchFamily="34" charset="-120"/>
              </a:rPr>
              <a:t>Peer to peer, by design</a:t>
            </a:r>
            <a:endParaRPr lang="en-US" sz="1300" dirty="0"/>
          </a:p>
        </p:txBody>
      </p:sp>
      <p:sp>
        <p:nvSpPr>
          <p:cNvPr id="9" name="Text 7"/>
          <p:cNvSpPr txBox="1"/>
          <p:nvPr/>
        </p:nvSpPr>
        <p:spPr>
          <a:xfrm>
            <a:off x="822960" y="2478024"/>
            <a:ext cx="6400800" cy="621792"/>
          </a:xfrm>
          <a:prstGeom prst="rect">
            <a:avLst/>
          </a:prstGeom>
          <a:noFill/>
          <a:ln/>
        </p:spPr>
        <p:txBody>
          <a:bodyPr wrap="square" lIns="0" tIns="0" rIns="0" bIns="0" rtlCol="0" anchor="t"/>
          <a:lstStyle/>
          <a:p>
            <a:pPr indent="0" marL="0">
              <a:lnSpc>
                <a:spcPts val="1386"/>
              </a:lnSpc>
              <a:buNone/>
            </a:pPr>
            <a:r>
              <a:rPr lang="en-US" sz="1050" dirty="0">
                <a:solidFill>
                  <a:srgbClr val="5D6F68"/>
                </a:solidFill>
                <a:latin typeface="Calibri" pitchFamily="34" charset="0"/>
                <a:ea typeface="Calibri" pitchFamily="34" charset="-122"/>
                <a:cs typeface="Calibri" pitchFamily="34" charset="-120"/>
              </a:rPr>
              <a:t>Once paired, the devices exchange the consultation directly. The server introduces them and then has nothing to do with it.</a:t>
            </a:r>
            <a:endParaRPr lang="en-US" sz="1050" dirty="0"/>
          </a:p>
        </p:txBody>
      </p:sp>
      <p:sp>
        <p:nvSpPr>
          <p:cNvPr id="10" name="Shape 8"/>
          <p:cNvSpPr/>
          <p:nvPr/>
        </p:nvSpPr>
        <p:spPr>
          <a:xfrm>
            <a:off x="566928" y="3291840"/>
            <a:ext cx="6903720" cy="1152144"/>
          </a:xfrm>
          <a:prstGeom prst="roundRect">
            <a:avLst>
              <a:gd name="adj" fmla="val 6349"/>
            </a:avLst>
          </a:prstGeom>
          <a:solidFill>
            <a:srgbClr val="F4F8F6"/>
          </a:solidFill>
          <a:ln w="12700">
            <a:solidFill>
              <a:srgbClr val="D8E2DE"/>
            </a:solidFill>
            <a:prstDash val="solid"/>
          </a:ln>
        </p:spPr>
      </p:sp>
      <p:sp>
        <p:nvSpPr>
          <p:cNvPr id="11" name="Text 9"/>
          <p:cNvSpPr txBox="1"/>
          <p:nvPr/>
        </p:nvSpPr>
        <p:spPr>
          <a:xfrm>
            <a:off x="822960" y="3447288"/>
            <a:ext cx="4937760" cy="274320"/>
          </a:xfrm>
          <a:prstGeom prst="rect">
            <a:avLst/>
          </a:prstGeom>
          <a:noFill/>
          <a:ln/>
        </p:spPr>
        <p:txBody>
          <a:bodyPr wrap="square" lIns="0" tIns="0" rIns="0" bIns="0" rtlCol="0" anchor="ctr"/>
          <a:lstStyle/>
          <a:p>
            <a:pPr indent="0" marL="0">
              <a:buNone/>
            </a:pPr>
            <a:r>
              <a:rPr lang="en-US" sz="1300" b="1" dirty="0">
                <a:solidFill>
                  <a:srgbClr val="0B3D2E"/>
                </a:solidFill>
                <a:latin typeface="Cambria" pitchFamily="34" charset="0"/>
                <a:ea typeface="Cambria" pitchFamily="34" charset="-122"/>
                <a:cs typeface="Cambria" pitchFamily="34" charset="-120"/>
              </a:rPr>
              <a:t>Offline after first use</a:t>
            </a:r>
            <a:endParaRPr lang="en-US" sz="1300" dirty="0"/>
          </a:p>
        </p:txBody>
      </p:sp>
      <p:sp>
        <p:nvSpPr>
          <p:cNvPr id="12" name="Text 10"/>
          <p:cNvSpPr txBox="1"/>
          <p:nvPr/>
        </p:nvSpPr>
        <p:spPr>
          <a:xfrm>
            <a:off x="822960" y="3776472"/>
            <a:ext cx="6400800" cy="621792"/>
          </a:xfrm>
          <a:prstGeom prst="rect">
            <a:avLst/>
          </a:prstGeom>
          <a:noFill/>
          <a:ln/>
        </p:spPr>
        <p:txBody>
          <a:bodyPr wrap="square" lIns="0" tIns="0" rIns="0" bIns="0" rtlCol="0" anchor="t"/>
          <a:lstStyle/>
          <a:p>
            <a:pPr indent="0" marL="0">
              <a:lnSpc>
                <a:spcPts val="1386"/>
              </a:lnSpc>
              <a:buNone/>
            </a:pPr>
            <a:r>
              <a:rPr lang="en-US" sz="1050" dirty="0">
                <a:solidFill>
                  <a:srgbClr val="5D6F68"/>
                </a:solidFill>
                <a:latin typeface="Calibri" pitchFamily="34" charset="0"/>
                <a:ea typeface="Calibri" pitchFamily="34" charset="-122"/>
                <a:cs typeface="Calibri" pitchFamily="34" charset="-120"/>
              </a:rPr>
              <a:t>The service worker keeps the clips on the device, so a sign plays in milliseconds with no network.</a:t>
            </a:r>
            <a:endParaRPr lang="en-US" sz="1050" dirty="0"/>
          </a:p>
        </p:txBody>
      </p:sp>
      <p:sp>
        <p:nvSpPr>
          <p:cNvPr id="13" name="Shape 11"/>
          <p:cNvSpPr/>
          <p:nvPr/>
        </p:nvSpPr>
        <p:spPr>
          <a:xfrm>
            <a:off x="566928" y="4590288"/>
            <a:ext cx="6903720" cy="1152144"/>
          </a:xfrm>
          <a:prstGeom prst="roundRect">
            <a:avLst>
              <a:gd name="adj" fmla="val 6349"/>
            </a:avLst>
          </a:prstGeom>
          <a:solidFill>
            <a:srgbClr val="F4F8F6"/>
          </a:solidFill>
          <a:ln w="12700">
            <a:solidFill>
              <a:srgbClr val="D8E2DE"/>
            </a:solidFill>
            <a:prstDash val="solid"/>
          </a:ln>
        </p:spPr>
      </p:sp>
      <p:sp>
        <p:nvSpPr>
          <p:cNvPr id="14" name="Text 12"/>
          <p:cNvSpPr txBox="1"/>
          <p:nvPr/>
        </p:nvSpPr>
        <p:spPr>
          <a:xfrm>
            <a:off x="822960" y="4745736"/>
            <a:ext cx="4937760" cy="274320"/>
          </a:xfrm>
          <a:prstGeom prst="rect">
            <a:avLst/>
          </a:prstGeom>
          <a:noFill/>
          <a:ln/>
        </p:spPr>
        <p:txBody>
          <a:bodyPr wrap="square" lIns="0" tIns="0" rIns="0" bIns="0" rtlCol="0" anchor="ctr"/>
          <a:lstStyle/>
          <a:p>
            <a:pPr indent="0" marL="0">
              <a:buNone/>
            </a:pPr>
            <a:r>
              <a:rPr lang="en-US" sz="1300" b="1" dirty="0">
                <a:solidFill>
                  <a:srgbClr val="0B3D2E"/>
                </a:solidFill>
                <a:latin typeface="Cambria" pitchFamily="34" charset="0"/>
                <a:ea typeface="Cambria" pitchFamily="34" charset="-122"/>
                <a:cs typeface="Cambria" pitchFamily="34" charset="-120"/>
              </a:rPr>
              <a:t>Honest failure</a:t>
            </a:r>
            <a:endParaRPr lang="en-US" sz="1300" dirty="0"/>
          </a:p>
        </p:txBody>
      </p:sp>
      <p:sp>
        <p:nvSpPr>
          <p:cNvPr id="15" name="Text 13"/>
          <p:cNvSpPr txBox="1"/>
          <p:nvPr/>
        </p:nvSpPr>
        <p:spPr>
          <a:xfrm>
            <a:off x="822960" y="5074920"/>
            <a:ext cx="6400800" cy="621792"/>
          </a:xfrm>
          <a:prstGeom prst="rect">
            <a:avLst/>
          </a:prstGeom>
          <a:noFill/>
          <a:ln/>
        </p:spPr>
        <p:txBody>
          <a:bodyPr wrap="square" lIns="0" tIns="0" rIns="0" bIns="0" rtlCol="0" anchor="t"/>
          <a:lstStyle/>
          <a:p>
            <a:pPr indent="0" marL="0">
              <a:lnSpc>
                <a:spcPts val="1386"/>
              </a:lnSpc>
              <a:buNone/>
            </a:pPr>
            <a:r>
              <a:rPr lang="en-US" sz="1050" dirty="0">
                <a:solidFill>
                  <a:srgbClr val="5D6F68"/>
                </a:solidFill>
                <a:latin typeface="Calibri" pitchFamily="34" charset="0"/>
                <a:ea typeface="Calibri" pitchFamily="34" charset="-122"/>
                <a:cs typeface="Calibri" pitchFamily="34" charset="-120"/>
              </a:rPr>
              <a:t>No TURN server, so some networks will not pair. The app says so and offers one shared screen rather than routing a consultation somewhere else.</a:t>
            </a:r>
            <a:endParaRPr lang="en-US" sz="1050" dirty="0"/>
          </a:p>
        </p:txBody>
      </p:sp>
      <p:sp>
        <p:nvSpPr>
          <p:cNvPr id="16" name="Shape 14"/>
          <p:cNvSpPr/>
          <p:nvPr/>
        </p:nvSpPr>
        <p:spPr>
          <a:xfrm>
            <a:off x="7818120" y="1993392"/>
            <a:ext cx="3803904" cy="3584448"/>
          </a:xfrm>
          <a:prstGeom prst="roundRect">
            <a:avLst>
              <a:gd name="adj" fmla="val 2041"/>
            </a:avLst>
          </a:prstGeom>
          <a:solidFill>
            <a:srgbClr val="F4F8F6"/>
          </a:solidFill>
          <a:ln w="12700">
            <a:solidFill>
              <a:srgbClr val="D8E2DE"/>
            </a:solidFill>
            <a:prstDash val="solid"/>
          </a:ln>
        </p:spPr>
      </p:sp>
      <p:sp>
        <p:nvSpPr>
          <p:cNvPr id="17" name="Text 15"/>
          <p:cNvSpPr txBox="1"/>
          <p:nvPr/>
        </p:nvSpPr>
        <p:spPr>
          <a:xfrm>
            <a:off x="8055864" y="2231136"/>
            <a:ext cx="3291840" cy="274320"/>
          </a:xfrm>
          <a:prstGeom prst="rect">
            <a:avLst/>
          </a:prstGeom>
          <a:noFill/>
          <a:ln/>
        </p:spPr>
        <p:txBody>
          <a:bodyPr wrap="square" lIns="0" tIns="0" rIns="0" bIns="0" rtlCol="0" anchor="ctr"/>
          <a:lstStyle/>
          <a:p>
            <a:pPr indent="0" marL="0">
              <a:buNone/>
            </a:pPr>
            <a:r>
              <a:rPr lang="en-US" sz="1500" b="1" dirty="0">
                <a:solidFill>
                  <a:srgbClr val="0B3D2E"/>
                </a:solidFill>
                <a:latin typeface="Cambria" pitchFamily="34" charset="0"/>
                <a:ea typeface="Cambria" pitchFamily="34" charset="-122"/>
                <a:cs typeface="Cambria" pitchFamily="34" charset="-120"/>
              </a:rPr>
              <a:t>Evidence</a:t>
            </a:r>
            <a:endParaRPr lang="en-US" sz="1500" dirty="0"/>
          </a:p>
        </p:txBody>
      </p:sp>
      <p:sp>
        <p:nvSpPr>
          <p:cNvPr id="18" name="Text 16"/>
          <p:cNvSpPr txBox="1"/>
          <p:nvPr/>
        </p:nvSpPr>
        <p:spPr>
          <a:xfrm>
            <a:off x="8055864" y="2743200"/>
            <a:ext cx="3291840" cy="384048"/>
          </a:xfrm>
          <a:prstGeom prst="rect">
            <a:avLst/>
          </a:prstGeom>
          <a:noFill/>
          <a:ln/>
        </p:spPr>
        <p:txBody>
          <a:bodyPr wrap="square" lIns="0" tIns="0" rIns="0" bIns="0" rtlCol="0" anchor="ctr"/>
          <a:lstStyle/>
          <a:p>
            <a:pPr indent="0" marL="0">
              <a:buNone/>
            </a:pPr>
            <a:r>
              <a:rPr lang="en-US" sz="2200" b="1" dirty="0">
                <a:solidFill>
                  <a:srgbClr val="0B3D2E"/>
                </a:solidFill>
                <a:latin typeface="Cambria" pitchFamily="34" charset="0"/>
                <a:ea typeface="Cambria" pitchFamily="34" charset="-122"/>
                <a:cs typeface="Cambria" pitchFamily="34" charset="-120"/>
              </a:rPr>
              <a:t>1,933</a:t>
            </a:r>
            <a:endParaRPr lang="en-US" sz="2200" dirty="0"/>
          </a:p>
        </p:txBody>
      </p:sp>
      <p:sp>
        <p:nvSpPr>
          <p:cNvPr id="19" name="Text 17"/>
          <p:cNvSpPr txBox="1"/>
          <p:nvPr/>
        </p:nvSpPr>
        <p:spPr>
          <a:xfrm>
            <a:off x="8055864" y="3108960"/>
            <a:ext cx="3291840" cy="256032"/>
          </a:xfrm>
          <a:prstGeom prst="rect">
            <a:avLst/>
          </a:prstGeom>
          <a:noFill/>
          <a:ln/>
        </p:spPr>
        <p:txBody>
          <a:bodyPr wrap="square" lIns="0" tIns="0" rIns="0" bIns="0" rtlCol="0" anchor="ctr"/>
          <a:lstStyle/>
          <a:p>
            <a:pPr indent="0" marL="0">
              <a:buNone/>
            </a:pPr>
            <a:r>
              <a:rPr lang="en-US" sz="1000" dirty="0">
                <a:solidFill>
                  <a:srgbClr val="5D6F68"/>
                </a:solidFill>
                <a:latin typeface="Calibri" pitchFamily="34" charset="0"/>
                <a:ea typeface="Calibri" pitchFamily="34" charset="-122"/>
                <a:cs typeface="Calibri" pitchFamily="34" charset="-120"/>
              </a:rPr>
              <a:t>automated tests, both halves</a:t>
            </a:r>
            <a:endParaRPr lang="en-US" sz="1000" dirty="0"/>
          </a:p>
        </p:txBody>
      </p:sp>
      <p:sp>
        <p:nvSpPr>
          <p:cNvPr id="20" name="Text 18"/>
          <p:cNvSpPr txBox="1"/>
          <p:nvPr/>
        </p:nvSpPr>
        <p:spPr>
          <a:xfrm>
            <a:off x="8055864" y="3675888"/>
            <a:ext cx="3291840" cy="384048"/>
          </a:xfrm>
          <a:prstGeom prst="rect">
            <a:avLst/>
          </a:prstGeom>
          <a:noFill/>
          <a:ln/>
        </p:spPr>
        <p:txBody>
          <a:bodyPr wrap="square" lIns="0" tIns="0" rIns="0" bIns="0" rtlCol="0" anchor="ctr"/>
          <a:lstStyle/>
          <a:p>
            <a:pPr indent="0" marL="0">
              <a:buNone/>
            </a:pPr>
            <a:r>
              <a:rPr lang="en-US" sz="2200" b="1" dirty="0">
                <a:solidFill>
                  <a:srgbClr val="0B3D2E"/>
                </a:solidFill>
                <a:latin typeface="Cambria" pitchFamily="34" charset="0"/>
                <a:ea typeface="Cambria" pitchFamily="34" charset="-122"/>
                <a:cs typeface="Cambria" pitchFamily="34" charset="-120"/>
              </a:rPr>
              <a:t>61</a:t>
            </a:r>
            <a:endParaRPr lang="en-US" sz="2200" dirty="0"/>
          </a:p>
        </p:txBody>
      </p:sp>
      <p:sp>
        <p:nvSpPr>
          <p:cNvPr id="21" name="Text 19"/>
          <p:cNvSpPr txBox="1"/>
          <p:nvPr/>
        </p:nvSpPr>
        <p:spPr>
          <a:xfrm>
            <a:off x="8055864" y="4041648"/>
            <a:ext cx="3291840" cy="256032"/>
          </a:xfrm>
          <a:prstGeom prst="rect">
            <a:avLst/>
          </a:prstGeom>
          <a:noFill/>
          <a:ln/>
        </p:spPr>
        <p:txBody>
          <a:bodyPr wrap="square" lIns="0" tIns="0" rIns="0" bIns="0" rtlCol="0" anchor="ctr"/>
          <a:lstStyle/>
          <a:p>
            <a:pPr indent="0" marL="0">
              <a:buNone/>
            </a:pPr>
            <a:r>
              <a:rPr lang="en-US" sz="1000" dirty="0">
                <a:solidFill>
                  <a:srgbClr val="5D6F68"/>
                </a:solidFill>
                <a:latin typeface="Calibri" pitchFamily="34" charset="0"/>
                <a:ea typeface="Calibri" pitchFamily="34" charset="-122"/>
                <a:cs typeface="Calibri" pitchFamily="34" charset="-120"/>
              </a:rPr>
              <a:t>written architecture decisions</a:t>
            </a:r>
            <a:endParaRPr lang="en-US" sz="1000" dirty="0"/>
          </a:p>
        </p:txBody>
      </p:sp>
      <p:sp>
        <p:nvSpPr>
          <p:cNvPr id="22" name="Text 20"/>
          <p:cNvSpPr txBox="1"/>
          <p:nvPr/>
        </p:nvSpPr>
        <p:spPr>
          <a:xfrm>
            <a:off x="8055864" y="4608576"/>
            <a:ext cx="3291840" cy="384048"/>
          </a:xfrm>
          <a:prstGeom prst="rect">
            <a:avLst/>
          </a:prstGeom>
          <a:noFill/>
          <a:ln/>
        </p:spPr>
        <p:txBody>
          <a:bodyPr wrap="square" lIns="0" tIns="0" rIns="0" bIns="0" rtlCol="0" anchor="ctr"/>
          <a:lstStyle/>
          <a:p>
            <a:pPr indent="0" marL="0">
              <a:buNone/>
            </a:pPr>
            <a:r>
              <a:rPr lang="en-US" sz="2200" b="1" dirty="0">
                <a:solidFill>
                  <a:srgbClr val="0B3D2E"/>
                </a:solidFill>
                <a:latin typeface="Cambria" pitchFamily="34" charset="0"/>
                <a:ea typeface="Cambria" pitchFamily="34" charset="-122"/>
                <a:cs typeface="Cambria" pitchFamily="34" charset="-120"/>
              </a:rPr>
              <a:t>108</a:t>
            </a:r>
            <a:endParaRPr lang="en-US" sz="2200" dirty="0"/>
          </a:p>
        </p:txBody>
      </p:sp>
      <p:sp>
        <p:nvSpPr>
          <p:cNvPr id="23" name="Text 21"/>
          <p:cNvSpPr txBox="1"/>
          <p:nvPr/>
        </p:nvSpPr>
        <p:spPr>
          <a:xfrm>
            <a:off x="8055864" y="4974336"/>
            <a:ext cx="3291840" cy="256032"/>
          </a:xfrm>
          <a:prstGeom prst="rect">
            <a:avLst/>
          </a:prstGeom>
          <a:noFill/>
          <a:ln/>
        </p:spPr>
        <p:txBody>
          <a:bodyPr wrap="square" lIns="0" tIns="0" rIns="0" bIns="0" rtlCol="0" anchor="ctr"/>
          <a:lstStyle/>
          <a:p>
            <a:pPr indent="0" marL="0">
              <a:buNone/>
            </a:pPr>
            <a:r>
              <a:rPr lang="en-US" sz="1000" dirty="0">
                <a:solidFill>
                  <a:srgbClr val="5D6F68"/>
                </a:solidFill>
                <a:latin typeface="Calibri" pitchFamily="34" charset="0"/>
                <a:ea typeface="Calibri" pitchFamily="34" charset="-122"/>
                <a:cs typeface="Calibri" pitchFamily="34" charset="-120"/>
              </a:rPr>
              <a:t>reviewed clips, 13.2 MB served</a:t>
            </a:r>
            <a:endParaRPr lang="en-US" sz="1000" dirty="0"/>
          </a:p>
        </p:txBody>
      </p:sp>
      <p:sp>
        <p:nvSpPr>
          <p:cNvPr id="24" name="Text 22"/>
          <p:cNvSpPr txBox="1"/>
          <p:nvPr/>
        </p:nvSpPr>
        <p:spPr>
          <a:xfrm>
            <a:off x="566928" y="5870448"/>
            <a:ext cx="11057839" cy="457200"/>
          </a:xfrm>
          <a:prstGeom prst="rect">
            <a:avLst/>
          </a:prstGeom>
          <a:noFill/>
          <a:ln/>
        </p:spPr>
        <p:txBody>
          <a:bodyPr wrap="square" lIns="0" tIns="0" rIns="0" bIns="0" rtlCol="0" anchor="t"/>
          <a:lstStyle/>
          <a:p>
            <a:pPr indent="0" marL="0">
              <a:lnSpc>
                <a:spcPts val="1584"/>
              </a:lnSpc>
              <a:buNone/>
            </a:pPr>
            <a:r>
              <a:rPr lang="en-US" sz="1200" dirty="0">
                <a:solidFill>
                  <a:srgbClr val="5D6F68"/>
                </a:solidFill>
                <a:latin typeface="Calibri" pitchFamily="34" charset="0"/>
                <a:ea typeface="Calibri" pitchFamily="34" charset="-122"/>
                <a:cs typeface="Calibri" pitchFamily="34" charset="-120"/>
              </a:rPr>
              <a:t>Django and DRF on Render, React and Vite on Netlify, Postgres on Neon, clips on Cloudflare R2. One repository, two deployments.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200" kern="0" dirty="0">
                <a:solidFill>
                  <a:srgbClr val="0A4A3A"/>
                </a:solidFill>
                <a:latin typeface="Calibri" pitchFamily="34" charset="0"/>
                <a:ea typeface="Calibri" pitchFamily="34" charset="-122"/>
                <a:cs typeface="Calibri" pitchFamily="34" charset="-120"/>
              </a:rPr>
              <a:t>ASSESSMENT · 10 + 10 POINTS</a:t>
            </a:r>
            <a:endParaRPr lang="en-US" sz="1100" dirty="0"/>
          </a:p>
        </p:txBody>
      </p:sp>
      <p:sp>
        <p:nvSpPr>
          <p:cNvPr id="3" name="Text 1"/>
          <p:cNvSpPr txBox="1"/>
          <p:nvPr/>
        </p:nvSpPr>
        <p:spPr>
          <a:xfrm>
            <a:off x="566928" y="640080"/>
            <a:ext cx="11057839" cy="658368"/>
          </a:xfrm>
          <a:prstGeom prst="rect">
            <a:avLst/>
          </a:prstGeom>
          <a:noFill/>
          <a:ln/>
        </p:spPr>
        <p:txBody>
          <a:bodyPr wrap="square" lIns="0" tIns="0" rIns="0" bIns="0" rtlCol="0" anchor="ctr"/>
          <a:lstStyle/>
          <a:p>
            <a:pPr indent="0" marL="0">
              <a:buNone/>
            </a:pPr>
            <a:r>
              <a:rPr lang="en-US" sz="3400" b="1" dirty="0">
                <a:solidFill>
                  <a:srgbClr val="0F1F1A"/>
                </a:solidFill>
                <a:latin typeface="Cambria" pitchFamily="34" charset="0"/>
                <a:ea typeface="Cambria" pitchFamily="34" charset="-122"/>
                <a:cs typeface="Cambria" pitchFamily="34" charset="-120"/>
              </a:rPr>
              <a:t>Ghanaian language, and local fit</a:t>
            </a:r>
            <a:endParaRPr lang="en-US" sz="3400" dirty="0"/>
          </a:p>
        </p:txBody>
      </p:sp>
      <p:sp>
        <p:nvSpPr>
          <p:cNvPr id="4" name="Text 2"/>
          <p:cNvSpPr txBox="1"/>
          <p:nvPr/>
        </p:nvSpPr>
        <p:spPr>
          <a:xfrm>
            <a:off x="566928" y="6382512"/>
            <a:ext cx="3657600" cy="237744"/>
          </a:xfrm>
          <a:prstGeom prst="rect">
            <a:avLst/>
          </a:prstGeom>
          <a:noFill/>
          <a:ln/>
        </p:spPr>
        <p:txBody>
          <a:bodyPr wrap="square" lIns="0" tIns="0" rIns="0" bIns="0" rtlCol="0" anchor="ctr"/>
          <a:lstStyle/>
          <a:p>
            <a:pPr indent="0" marL="0">
              <a:buNone/>
            </a:pPr>
            <a:r>
              <a:rPr lang="en-US" sz="950" dirty="0">
                <a:solidFill>
                  <a:srgbClr val="5D6F68"/>
                </a:solidFill>
                <a:latin typeface="Calibri" pitchFamily="34" charset="0"/>
                <a:ea typeface="Calibri" pitchFamily="34" charset="-122"/>
                <a:cs typeface="Calibri" pitchFamily="34" charset="-120"/>
              </a:rPr>
              <a:t>Tie Me Ghana</a:t>
            </a:r>
            <a:endParaRPr lang="en-US" sz="950" dirty="0"/>
          </a:p>
        </p:txBody>
      </p:sp>
      <p:sp>
        <p:nvSpPr>
          <p:cNvPr id="5" name="Text 3"/>
          <p:cNvSpPr txBox="1"/>
          <p:nvPr/>
        </p:nvSpPr>
        <p:spPr>
          <a:xfrm>
            <a:off x="10710367" y="6382512"/>
            <a:ext cx="914400" cy="237744"/>
          </a:xfrm>
          <a:prstGeom prst="rect">
            <a:avLst/>
          </a:prstGeom>
          <a:noFill/>
          <a:ln/>
        </p:spPr>
        <p:txBody>
          <a:bodyPr wrap="square" lIns="0" tIns="0" rIns="0" bIns="0" rtlCol="0" anchor="ctr"/>
          <a:lstStyle/>
          <a:p>
            <a:pPr algn="r" indent="0" marL="0">
              <a:buNone/>
            </a:pPr>
            <a:r>
              <a:rPr lang="en-US" sz="950" dirty="0">
                <a:solidFill>
                  <a:srgbClr val="5D6F68"/>
                </a:solidFill>
                <a:latin typeface="Calibri" pitchFamily="34" charset="0"/>
                <a:ea typeface="Calibri" pitchFamily="34" charset="-122"/>
                <a:cs typeface="Calibri" pitchFamily="34" charset="-120"/>
              </a:rPr>
              <a:t>11</a:t>
            </a:r>
            <a:endParaRPr lang="en-US" sz="950" dirty="0"/>
          </a:p>
        </p:txBody>
      </p:sp>
      <p:sp>
        <p:nvSpPr>
          <p:cNvPr id="6" name="Shape 4"/>
          <p:cNvSpPr/>
          <p:nvPr/>
        </p:nvSpPr>
        <p:spPr>
          <a:xfrm>
            <a:off x="566928" y="1901952"/>
            <a:ext cx="5413248" cy="3822192"/>
          </a:xfrm>
          <a:prstGeom prst="roundRect">
            <a:avLst>
              <a:gd name="adj" fmla="val 1914"/>
            </a:avLst>
          </a:prstGeom>
          <a:solidFill>
            <a:srgbClr val="F4F8F6"/>
          </a:solidFill>
          <a:ln w="12700">
            <a:solidFill>
              <a:srgbClr val="D8E2DE"/>
            </a:solidFill>
            <a:prstDash val="solid"/>
          </a:ln>
        </p:spPr>
      </p:sp>
      <p:sp>
        <p:nvSpPr>
          <p:cNvPr id="7" name="Text 5"/>
          <p:cNvSpPr txBox="1"/>
          <p:nvPr/>
        </p:nvSpPr>
        <p:spPr>
          <a:xfrm>
            <a:off x="822960" y="2103120"/>
            <a:ext cx="3840480" cy="274320"/>
          </a:xfrm>
          <a:prstGeom prst="rect">
            <a:avLst/>
          </a:prstGeom>
          <a:noFill/>
          <a:ln/>
        </p:spPr>
        <p:txBody>
          <a:bodyPr wrap="square" lIns="0" tIns="0" rIns="0" bIns="0" rtlCol="0" anchor="ctr"/>
          <a:lstStyle/>
          <a:p>
            <a:pPr indent="0" marL="0">
              <a:buNone/>
            </a:pPr>
            <a:r>
              <a:rPr lang="en-US" sz="1500" b="1" dirty="0">
                <a:solidFill>
                  <a:srgbClr val="0B3D2E"/>
                </a:solidFill>
                <a:latin typeface="Cambria" pitchFamily="34" charset="0"/>
                <a:ea typeface="Cambria" pitchFamily="34" charset="-122"/>
                <a:cs typeface="Cambria" pitchFamily="34" charset="-120"/>
              </a:rPr>
              <a:t>Ghanaian-language support</a:t>
            </a:r>
            <a:endParaRPr lang="en-US" sz="1500" dirty="0"/>
          </a:p>
        </p:txBody>
      </p:sp>
      <p:sp>
        <p:nvSpPr>
          <p:cNvPr id="8" name="Shape 6"/>
          <p:cNvSpPr/>
          <p:nvPr/>
        </p:nvSpPr>
        <p:spPr>
          <a:xfrm>
            <a:off x="4425696" y="2084832"/>
            <a:ext cx="1298448" cy="256032"/>
          </a:xfrm>
          <a:prstGeom prst="roundRect">
            <a:avLst>
              <a:gd name="adj" fmla="val 50000"/>
            </a:avLst>
          </a:prstGeom>
          <a:solidFill>
            <a:srgbClr val="0B3D2E"/>
          </a:solidFill>
          <a:ln/>
        </p:spPr>
      </p:sp>
      <p:sp>
        <p:nvSpPr>
          <p:cNvPr id="9" name="Text 7"/>
          <p:cNvSpPr txBox="1"/>
          <p:nvPr/>
        </p:nvSpPr>
        <p:spPr>
          <a:xfrm>
            <a:off x="4425696" y="2084832"/>
            <a:ext cx="1298448" cy="256032"/>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WORKING NOW</a:t>
            </a:r>
            <a:endParaRPr lang="en-US" sz="900" dirty="0"/>
          </a:p>
        </p:txBody>
      </p:sp>
      <p:sp>
        <p:nvSpPr>
          <p:cNvPr id="10" name="Text 8"/>
          <p:cNvSpPr txBox="1"/>
          <p:nvPr/>
        </p:nvSpPr>
        <p:spPr>
          <a:xfrm>
            <a:off x="822960" y="2633472"/>
            <a:ext cx="4901184" cy="2962656"/>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0F1F1A"/>
                </a:solidFill>
                <a:latin typeface="Calibri" pitchFamily="34" charset="0"/>
                <a:ea typeface="Calibri" pitchFamily="34" charset="-122"/>
                <a:cs typeface="Calibri" pitchFamily="34" charset="-120"/>
              </a:rPr>
              <a:t>English or Twi spoken in, Twi caption out, via the Khaya API</a:t>
            </a:r>
            <a:endParaRPr lang="en-US" sz="1250" dirty="0"/>
          </a:p>
          <a:p>
            <a:pPr marL="342900" indent="-342900">
              <a:spcAft>
                <a:spcPts val="600"/>
              </a:spcAft>
              <a:buSzPct val="100000"/>
              <a:buChar char="•"/>
            </a:pPr>
            <a:r>
              <a:rPr lang="en-US" sz="1250" dirty="0">
                <a:solidFill>
                  <a:srgbClr val="0F1F1A"/>
                </a:solidFill>
                <a:latin typeface="Calibri" pitchFamily="34" charset="0"/>
                <a:ea typeface="Calibri" pitchFamily="34" charset="-122"/>
                <a:cs typeface="Calibri" pitchFamily="34" charset="-120"/>
              </a:rPr>
              <a:t>Ghanaian Sign Language, filmed here with Deaf signers — not American Sign Language</a:t>
            </a:r>
            <a:endParaRPr lang="en-US" sz="1250" dirty="0"/>
          </a:p>
          <a:p>
            <a:pPr marL="342900" indent="-342900">
              <a:spcAft>
                <a:spcPts val="600"/>
              </a:spcAft>
              <a:buSzPct val="100000"/>
              <a:buChar char="•"/>
            </a:pPr>
            <a:r>
              <a:rPr lang="en-US" sz="1250" dirty="0">
                <a:solidFill>
                  <a:srgbClr val="0F1F1A"/>
                </a:solidFill>
                <a:latin typeface="Calibri" pitchFamily="34" charset="0"/>
                <a:ea typeface="Calibri" pitchFamily="34" charset="-122"/>
                <a:cs typeface="Calibri" pitchFamily="34" charset="-120"/>
              </a:rPr>
              <a:t>GhSL is one language nationwide, so the signs do not change from region to region</a:t>
            </a:r>
            <a:endParaRPr lang="en-US" sz="1250" dirty="0"/>
          </a:p>
          <a:p>
            <a:pPr marL="342900" indent="-342900">
              <a:spcAft>
                <a:spcPts val="600"/>
              </a:spcAft>
              <a:buSzPct val="100000"/>
              <a:buChar char="•"/>
            </a:pPr>
            <a:r>
              <a:rPr lang="en-US" sz="1250" dirty="0">
                <a:solidFill>
                  <a:srgbClr val="0F1F1A"/>
                </a:solidFill>
                <a:latin typeface="Calibri" pitchFamily="34" charset="0"/>
                <a:ea typeface="Calibri" pitchFamily="34" charset="-122"/>
                <a:cs typeface="Calibri" pitchFamily="34" charset="-120"/>
              </a:rPr>
              <a:t>Plural forms match their singular sign, because GhSL does not mark plurals</a:t>
            </a:r>
            <a:endParaRPr lang="en-US" sz="1250" dirty="0"/>
          </a:p>
          <a:p>
            <a:pPr marL="342900" indent="-342900">
              <a:spcAft>
                <a:spcPts val="600"/>
              </a:spcAft>
              <a:buSzPct val="100000"/>
              <a:buChar char="•"/>
            </a:pPr>
            <a:r>
              <a:rPr lang="en-US" sz="1250" dirty="0">
                <a:solidFill>
                  <a:srgbClr val="0F1F1A"/>
                </a:solidFill>
                <a:latin typeface="Calibri" pitchFamily="34" charset="0"/>
                <a:ea typeface="Calibri" pitchFamily="34" charset="-122"/>
                <a:cs typeface="Calibri" pitchFamily="34" charset="-120"/>
              </a:rPr>
              <a:t>Ga and Ewe extend through the same interface, but are not built</a:t>
            </a:r>
            <a:endParaRPr lang="en-US" sz="1250" dirty="0"/>
          </a:p>
        </p:txBody>
      </p:sp>
      <p:sp>
        <p:nvSpPr>
          <p:cNvPr id="11" name="Shape 9"/>
          <p:cNvSpPr/>
          <p:nvPr/>
        </p:nvSpPr>
        <p:spPr>
          <a:xfrm>
            <a:off x="6217920" y="1901952"/>
            <a:ext cx="5413248" cy="3822192"/>
          </a:xfrm>
          <a:prstGeom prst="roundRect">
            <a:avLst>
              <a:gd name="adj" fmla="val 1914"/>
            </a:avLst>
          </a:prstGeom>
          <a:solidFill>
            <a:srgbClr val="F4F8F6"/>
          </a:solidFill>
          <a:ln w="12700">
            <a:solidFill>
              <a:srgbClr val="D8E2DE"/>
            </a:solidFill>
            <a:prstDash val="solid"/>
          </a:ln>
        </p:spPr>
      </p:sp>
      <p:sp>
        <p:nvSpPr>
          <p:cNvPr id="12" name="Text 10"/>
          <p:cNvSpPr txBox="1"/>
          <p:nvPr/>
        </p:nvSpPr>
        <p:spPr>
          <a:xfrm>
            <a:off x="6473952" y="2103120"/>
            <a:ext cx="3840480" cy="274320"/>
          </a:xfrm>
          <a:prstGeom prst="rect">
            <a:avLst/>
          </a:prstGeom>
          <a:noFill/>
          <a:ln/>
        </p:spPr>
        <p:txBody>
          <a:bodyPr wrap="square" lIns="0" tIns="0" rIns="0" bIns="0" rtlCol="0" anchor="ctr"/>
          <a:lstStyle/>
          <a:p>
            <a:pPr indent="0" marL="0">
              <a:buNone/>
            </a:pPr>
            <a:r>
              <a:rPr lang="en-US" sz="1500" b="1" dirty="0">
                <a:solidFill>
                  <a:srgbClr val="0B3D2E"/>
                </a:solidFill>
                <a:latin typeface="Cambria" pitchFamily="34" charset="0"/>
                <a:ea typeface="Cambria" pitchFamily="34" charset="-122"/>
                <a:cs typeface="Cambria" pitchFamily="34" charset="-120"/>
              </a:rPr>
              <a:t>UX, usability and local fit</a:t>
            </a:r>
            <a:endParaRPr lang="en-US" sz="1500" dirty="0"/>
          </a:p>
        </p:txBody>
      </p:sp>
      <p:sp>
        <p:nvSpPr>
          <p:cNvPr id="13" name="Shape 11"/>
          <p:cNvSpPr/>
          <p:nvPr/>
        </p:nvSpPr>
        <p:spPr>
          <a:xfrm>
            <a:off x="10076688" y="2084832"/>
            <a:ext cx="1298448" cy="256032"/>
          </a:xfrm>
          <a:prstGeom prst="roundRect">
            <a:avLst>
              <a:gd name="adj" fmla="val 50000"/>
            </a:avLst>
          </a:prstGeom>
          <a:solidFill>
            <a:srgbClr val="0B3D2E"/>
          </a:solidFill>
          <a:ln/>
        </p:spPr>
      </p:sp>
      <p:sp>
        <p:nvSpPr>
          <p:cNvPr id="14" name="Text 12"/>
          <p:cNvSpPr txBox="1"/>
          <p:nvPr/>
        </p:nvSpPr>
        <p:spPr>
          <a:xfrm>
            <a:off x="10076688" y="2084832"/>
            <a:ext cx="1298448" cy="256032"/>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WORKING NOW</a:t>
            </a:r>
            <a:endParaRPr lang="en-US" sz="900" dirty="0"/>
          </a:p>
        </p:txBody>
      </p:sp>
      <p:sp>
        <p:nvSpPr>
          <p:cNvPr id="15" name="Text 13"/>
          <p:cNvSpPr txBox="1"/>
          <p:nvPr/>
        </p:nvSpPr>
        <p:spPr>
          <a:xfrm>
            <a:off x="6473952" y="2633472"/>
            <a:ext cx="4901184" cy="2962656"/>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0F1F1A"/>
                </a:solidFill>
                <a:latin typeface="Calibri" pitchFamily="34" charset="0"/>
                <a:ea typeface="Calibri" pitchFamily="34" charset="-122"/>
                <a:cs typeface="Calibri" pitchFamily="34" charset="-120"/>
              </a:rPr>
              <a:t>Runs on the phone a ward already owns — no app store, no download, no new hardware</a:t>
            </a:r>
            <a:endParaRPr lang="en-US" sz="1250" dirty="0"/>
          </a:p>
          <a:p>
            <a:pPr marL="342900" indent="-342900">
              <a:spcAft>
                <a:spcPts val="600"/>
              </a:spcAft>
              <a:buSzPct val="100000"/>
              <a:buChar char="•"/>
            </a:pPr>
            <a:r>
              <a:rPr lang="en-US" sz="1250" dirty="0">
                <a:solidFill>
                  <a:srgbClr val="0F1F1A"/>
                </a:solidFill>
                <a:latin typeface="Calibri" pitchFamily="34" charset="0"/>
                <a:ea typeface="Calibri" pitchFamily="34" charset="-122"/>
                <a:cs typeface="Calibri" pitchFamily="34" charset="-120"/>
              </a:rPr>
              <a:t>13.2 MB holds the whole library, so a weak network is a first-visit cost only</a:t>
            </a:r>
            <a:endParaRPr lang="en-US" sz="1250" dirty="0"/>
          </a:p>
          <a:p>
            <a:pPr marL="342900" indent="-342900">
              <a:spcAft>
                <a:spcPts val="600"/>
              </a:spcAft>
              <a:buSzPct val="100000"/>
              <a:buChar char="•"/>
            </a:pPr>
            <a:r>
              <a:rPr lang="en-US" sz="1250" dirty="0">
                <a:solidFill>
                  <a:srgbClr val="0F1F1A"/>
                </a:solidFill>
                <a:latin typeface="Calibri" pitchFamily="34" charset="0"/>
                <a:ea typeface="Calibri" pitchFamily="34" charset="-122"/>
                <a:cs typeface="Calibri" pitchFamily="34" charset="-120"/>
              </a:rPr>
              <a:t>A reload does not lose the visit; a refreshed device rejoins by itself</a:t>
            </a:r>
            <a:endParaRPr lang="en-US" sz="1250" dirty="0"/>
          </a:p>
          <a:p>
            <a:pPr marL="342900" indent="-342900">
              <a:spcAft>
                <a:spcPts val="600"/>
              </a:spcAft>
              <a:buSzPct val="100000"/>
              <a:buChar char="•"/>
            </a:pPr>
            <a:r>
              <a:rPr lang="en-US" sz="1250" dirty="0">
                <a:solidFill>
                  <a:srgbClr val="0F1F1A"/>
                </a:solidFill>
                <a:latin typeface="Calibri" pitchFamily="34" charset="0"/>
                <a:ea typeface="Calibri" pitchFamily="34" charset="-122"/>
                <a:cs typeface="Calibri" pitchFamily="34" charset="-120"/>
              </a:rPr>
              <a:t>Big targets, high contrast, and state that is always visible rather than inferred</a:t>
            </a:r>
            <a:endParaRPr lang="en-US" sz="1250" dirty="0"/>
          </a:p>
          <a:p>
            <a:pPr marL="342900" indent="-342900">
              <a:spcAft>
                <a:spcPts val="600"/>
              </a:spcAft>
              <a:buSzPct val="100000"/>
              <a:buChar char="•"/>
            </a:pPr>
            <a:r>
              <a:rPr lang="en-US" sz="1250" dirty="0">
                <a:solidFill>
                  <a:srgbClr val="0F1F1A"/>
                </a:solidFill>
                <a:latin typeface="Calibri" pitchFamily="34" charset="0"/>
                <a:ea typeface="Calibri" pitchFamily="34" charset="-122"/>
                <a:cs typeface="Calibri" pitchFamily="34" charset="-120"/>
              </a:rPr>
              <a:t>One screen or two, chosen by a nurse in one tap at the start of the visit</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200" kern="0" dirty="0">
                <a:solidFill>
                  <a:srgbClr val="0A4A3A"/>
                </a:solidFill>
                <a:latin typeface="Calibri" pitchFamily="34" charset="0"/>
                <a:ea typeface="Calibri" pitchFamily="34" charset="-122"/>
                <a:cs typeface="Calibri" pitchFamily="34" charset="-120"/>
              </a:rPr>
              <a:t>ASSESSMENT · 10 POINTS</a:t>
            </a:r>
            <a:endParaRPr lang="en-US" sz="1100" dirty="0"/>
          </a:p>
        </p:txBody>
      </p:sp>
      <p:sp>
        <p:nvSpPr>
          <p:cNvPr id="3" name="Text 1"/>
          <p:cNvSpPr txBox="1"/>
          <p:nvPr/>
        </p:nvSpPr>
        <p:spPr>
          <a:xfrm>
            <a:off x="566928" y="640080"/>
            <a:ext cx="11057839" cy="658368"/>
          </a:xfrm>
          <a:prstGeom prst="rect">
            <a:avLst/>
          </a:prstGeom>
          <a:noFill/>
          <a:ln/>
        </p:spPr>
        <p:txBody>
          <a:bodyPr wrap="square" lIns="0" tIns="0" rIns="0" bIns="0" rtlCol="0" anchor="ctr"/>
          <a:lstStyle/>
          <a:p>
            <a:pPr indent="0" marL="0">
              <a:buNone/>
            </a:pPr>
            <a:r>
              <a:rPr lang="en-US" sz="3400" b="1" dirty="0">
                <a:solidFill>
                  <a:srgbClr val="0F1F1A"/>
                </a:solidFill>
                <a:latin typeface="Cambria" pitchFamily="34" charset="0"/>
                <a:ea typeface="Cambria" pitchFamily="34" charset="-122"/>
                <a:cs typeface="Cambria" pitchFamily="34" charset="-120"/>
              </a:rPr>
              <a:t>Adoption and continued use</a:t>
            </a:r>
            <a:endParaRPr lang="en-US" sz="3400" dirty="0"/>
          </a:p>
        </p:txBody>
      </p:sp>
      <p:sp>
        <p:nvSpPr>
          <p:cNvPr id="4" name="Text 2"/>
          <p:cNvSpPr txBox="1"/>
          <p:nvPr/>
        </p:nvSpPr>
        <p:spPr>
          <a:xfrm>
            <a:off x="566928" y="1335024"/>
            <a:ext cx="9960559" cy="384048"/>
          </a:xfrm>
          <a:prstGeom prst="rect">
            <a:avLst/>
          </a:prstGeom>
          <a:noFill/>
          <a:ln/>
        </p:spPr>
        <p:txBody>
          <a:bodyPr wrap="square" lIns="0" tIns="0" rIns="0" bIns="0" rtlCol="0" anchor="ctr"/>
          <a:lstStyle/>
          <a:p>
            <a:pPr indent="0" marL="0">
              <a:buNone/>
            </a:pPr>
            <a:r>
              <a:rPr lang="en-US" sz="1400" dirty="0">
                <a:solidFill>
                  <a:srgbClr val="5D6F68"/>
                </a:solidFill>
                <a:latin typeface="Calibri" pitchFamily="34" charset="0"/>
                <a:ea typeface="Calibri" pitchFamily="34" charset="-122"/>
                <a:cs typeface="Calibri" pitchFamily="34" charset="-120"/>
              </a:rPr>
              <a:t>The cheapest thing about it is the tenth hospital.</a:t>
            </a:r>
            <a:endParaRPr lang="en-US" sz="1400" dirty="0"/>
          </a:p>
        </p:txBody>
      </p:sp>
      <p:sp>
        <p:nvSpPr>
          <p:cNvPr id="5" name="Text 3"/>
          <p:cNvSpPr txBox="1"/>
          <p:nvPr/>
        </p:nvSpPr>
        <p:spPr>
          <a:xfrm>
            <a:off x="566928" y="6382512"/>
            <a:ext cx="3657600" cy="237744"/>
          </a:xfrm>
          <a:prstGeom prst="rect">
            <a:avLst/>
          </a:prstGeom>
          <a:noFill/>
          <a:ln/>
        </p:spPr>
        <p:txBody>
          <a:bodyPr wrap="square" lIns="0" tIns="0" rIns="0" bIns="0" rtlCol="0" anchor="ctr"/>
          <a:lstStyle/>
          <a:p>
            <a:pPr indent="0" marL="0">
              <a:buNone/>
            </a:pPr>
            <a:r>
              <a:rPr lang="en-US" sz="950" dirty="0">
                <a:solidFill>
                  <a:srgbClr val="5D6F68"/>
                </a:solidFill>
                <a:latin typeface="Calibri" pitchFamily="34" charset="0"/>
                <a:ea typeface="Calibri" pitchFamily="34" charset="-122"/>
                <a:cs typeface="Calibri" pitchFamily="34" charset="-120"/>
              </a:rPr>
              <a:t>Tie Me Ghana</a:t>
            </a:r>
            <a:endParaRPr lang="en-US" sz="950" dirty="0"/>
          </a:p>
        </p:txBody>
      </p:sp>
      <p:sp>
        <p:nvSpPr>
          <p:cNvPr id="6" name="Text 4"/>
          <p:cNvSpPr txBox="1"/>
          <p:nvPr/>
        </p:nvSpPr>
        <p:spPr>
          <a:xfrm>
            <a:off x="10710367" y="6382512"/>
            <a:ext cx="914400" cy="237744"/>
          </a:xfrm>
          <a:prstGeom prst="rect">
            <a:avLst/>
          </a:prstGeom>
          <a:noFill/>
          <a:ln/>
        </p:spPr>
        <p:txBody>
          <a:bodyPr wrap="square" lIns="0" tIns="0" rIns="0" bIns="0" rtlCol="0" anchor="ctr"/>
          <a:lstStyle/>
          <a:p>
            <a:pPr algn="r" indent="0" marL="0">
              <a:buNone/>
            </a:pPr>
            <a:r>
              <a:rPr lang="en-US" sz="950" dirty="0">
                <a:solidFill>
                  <a:srgbClr val="5D6F68"/>
                </a:solidFill>
                <a:latin typeface="Calibri" pitchFamily="34" charset="0"/>
                <a:ea typeface="Calibri" pitchFamily="34" charset="-122"/>
                <a:cs typeface="Calibri" pitchFamily="34" charset="-120"/>
              </a:rPr>
              <a:t>12</a:t>
            </a:r>
            <a:endParaRPr lang="en-US" sz="950" dirty="0"/>
          </a:p>
        </p:txBody>
      </p:sp>
      <p:sp>
        <p:nvSpPr>
          <p:cNvPr id="7" name="Shape 5"/>
          <p:cNvSpPr/>
          <p:nvPr/>
        </p:nvSpPr>
        <p:spPr>
          <a:xfrm>
            <a:off x="566928" y="2011680"/>
            <a:ext cx="7223760" cy="841248"/>
          </a:xfrm>
          <a:prstGeom prst="roundRect">
            <a:avLst>
              <a:gd name="adj" fmla="val 8696"/>
            </a:avLst>
          </a:prstGeom>
          <a:solidFill>
            <a:srgbClr val="F4F8F6"/>
          </a:solidFill>
          <a:ln w="12700">
            <a:solidFill>
              <a:srgbClr val="D8E2DE"/>
            </a:solidFill>
            <a:prstDash val="solid"/>
          </a:ln>
        </p:spPr>
      </p:sp>
      <p:sp>
        <p:nvSpPr>
          <p:cNvPr id="8" name="Text 6"/>
          <p:cNvSpPr txBox="1"/>
          <p:nvPr/>
        </p:nvSpPr>
        <p:spPr>
          <a:xfrm>
            <a:off x="804672" y="2139696"/>
            <a:ext cx="4206240" cy="274320"/>
          </a:xfrm>
          <a:prstGeom prst="rect">
            <a:avLst/>
          </a:prstGeom>
          <a:noFill/>
          <a:ln/>
        </p:spPr>
        <p:txBody>
          <a:bodyPr wrap="square" lIns="0" tIns="0" rIns="0" bIns="0" rtlCol="0" anchor="ctr"/>
          <a:lstStyle/>
          <a:p>
            <a:pPr indent="0" marL="0">
              <a:buNone/>
            </a:pPr>
            <a:r>
              <a:rPr lang="en-US" sz="1250" b="1" dirty="0">
                <a:solidFill>
                  <a:srgbClr val="0B3D2E"/>
                </a:solidFill>
                <a:latin typeface="Cambria" pitchFamily="34" charset="0"/>
                <a:ea typeface="Cambria" pitchFamily="34" charset="-122"/>
                <a:cs typeface="Cambria" pitchFamily="34" charset="-120"/>
              </a:rPr>
              <a:t>Nothing to install</a:t>
            </a:r>
            <a:endParaRPr lang="en-US" sz="1250" dirty="0"/>
          </a:p>
        </p:txBody>
      </p:sp>
      <p:sp>
        <p:nvSpPr>
          <p:cNvPr id="9" name="Text 7"/>
          <p:cNvSpPr txBox="1"/>
          <p:nvPr/>
        </p:nvSpPr>
        <p:spPr>
          <a:xfrm>
            <a:off x="5093208" y="2121408"/>
            <a:ext cx="2606040" cy="640080"/>
          </a:xfrm>
          <a:prstGeom prst="rect">
            <a:avLst/>
          </a:prstGeom>
          <a:noFill/>
          <a:ln/>
        </p:spPr>
        <p:txBody>
          <a:bodyPr wrap="square" lIns="0" tIns="0" rIns="0" bIns="0" rtlCol="0" anchor="t"/>
          <a:lstStyle/>
          <a:p>
            <a:pPr indent="0" marL="0">
              <a:lnSpc>
                <a:spcPts val="1320"/>
              </a:lnSpc>
              <a:buNone/>
            </a:pPr>
            <a:r>
              <a:rPr lang="en-US" sz="1000" dirty="0">
                <a:solidFill>
                  <a:srgbClr val="5D6F68"/>
                </a:solidFill>
                <a:latin typeface="Calibri" pitchFamily="34" charset="0"/>
                <a:ea typeface="Calibri" pitchFamily="34" charset="-122"/>
                <a:cs typeface="Calibri" pitchFamily="34" charset="-120"/>
              </a:rPr>
              <a:t>A link, not a deployment. A ward starts using it in the time it takes to type an address.</a:t>
            </a:r>
            <a:endParaRPr lang="en-US" sz="1000" dirty="0"/>
          </a:p>
        </p:txBody>
      </p:sp>
      <p:sp>
        <p:nvSpPr>
          <p:cNvPr id="10" name="Shape 8"/>
          <p:cNvSpPr/>
          <p:nvPr/>
        </p:nvSpPr>
        <p:spPr>
          <a:xfrm>
            <a:off x="566928" y="2962656"/>
            <a:ext cx="7223760" cy="841248"/>
          </a:xfrm>
          <a:prstGeom prst="roundRect">
            <a:avLst>
              <a:gd name="adj" fmla="val 8696"/>
            </a:avLst>
          </a:prstGeom>
          <a:solidFill>
            <a:srgbClr val="F4F8F6"/>
          </a:solidFill>
          <a:ln w="12700">
            <a:solidFill>
              <a:srgbClr val="D8E2DE"/>
            </a:solidFill>
            <a:prstDash val="solid"/>
          </a:ln>
        </p:spPr>
      </p:sp>
      <p:sp>
        <p:nvSpPr>
          <p:cNvPr id="11" name="Text 9"/>
          <p:cNvSpPr txBox="1"/>
          <p:nvPr/>
        </p:nvSpPr>
        <p:spPr>
          <a:xfrm>
            <a:off x="804672" y="3090672"/>
            <a:ext cx="4206240" cy="274320"/>
          </a:xfrm>
          <a:prstGeom prst="rect">
            <a:avLst/>
          </a:prstGeom>
          <a:noFill/>
          <a:ln/>
        </p:spPr>
        <p:txBody>
          <a:bodyPr wrap="square" lIns="0" tIns="0" rIns="0" bIns="0" rtlCol="0" anchor="ctr"/>
          <a:lstStyle/>
          <a:p>
            <a:pPr indent="0" marL="0">
              <a:buNone/>
            </a:pPr>
            <a:r>
              <a:rPr lang="en-US" sz="1250" b="1" dirty="0">
                <a:solidFill>
                  <a:srgbClr val="0B3D2E"/>
                </a:solidFill>
                <a:latin typeface="Cambria" pitchFamily="34" charset="0"/>
                <a:ea typeface="Cambria" pitchFamily="34" charset="-122"/>
                <a:cs typeface="Cambria" pitchFamily="34" charset="-120"/>
              </a:rPr>
              <a:t>Adding a sign is filming, not coding</a:t>
            </a:r>
            <a:endParaRPr lang="en-US" sz="1250" dirty="0"/>
          </a:p>
        </p:txBody>
      </p:sp>
      <p:sp>
        <p:nvSpPr>
          <p:cNvPr id="12" name="Text 10"/>
          <p:cNvSpPr txBox="1"/>
          <p:nvPr/>
        </p:nvSpPr>
        <p:spPr>
          <a:xfrm>
            <a:off x="5093208" y="3072384"/>
            <a:ext cx="2606040" cy="640080"/>
          </a:xfrm>
          <a:prstGeom prst="rect">
            <a:avLst/>
          </a:prstGeom>
          <a:noFill/>
          <a:ln/>
        </p:spPr>
        <p:txBody>
          <a:bodyPr wrap="square" lIns="0" tIns="0" rIns="0" bIns="0" rtlCol="0" anchor="t"/>
          <a:lstStyle/>
          <a:p>
            <a:pPr indent="0" marL="0">
              <a:lnSpc>
                <a:spcPts val="1320"/>
              </a:lnSpc>
              <a:buNone/>
            </a:pPr>
            <a:r>
              <a:rPr lang="en-US" sz="1000" dirty="0">
                <a:solidFill>
                  <a:srgbClr val="5D6F68"/>
                </a:solidFill>
                <a:latin typeface="Calibri" pitchFamily="34" charset="0"/>
                <a:ea typeface="Calibri" pitchFamily="34" charset="-122"/>
                <a:cs typeface="Calibri" pitchFamily="34" charset="-120"/>
              </a:rPr>
              <a:t>A new sign is recorded, reviewed and imported. We added 44 this week without touching the app.</a:t>
            </a:r>
            <a:endParaRPr lang="en-US" sz="1000" dirty="0"/>
          </a:p>
        </p:txBody>
      </p:sp>
      <p:sp>
        <p:nvSpPr>
          <p:cNvPr id="13" name="Shape 11"/>
          <p:cNvSpPr/>
          <p:nvPr/>
        </p:nvSpPr>
        <p:spPr>
          <a:xfrm>
            <a:off x="566928" y="3913632"/>
            <a:ext cx="7223760" cy="841248"/>
          </a:xfrm>
          <a:prstGeom prst="roundRect">
            <a:avLst>
              <a:gd name="adj" fmla="val 8696"/>
            </a:avLst>
          </a:prstGeom>
          <a:solidFill>
            <a:srgbClr val="F4F8F6"/>
          </a:solidFill>
          <a:ln w="12700">
            <a:solidFill>
              <a:srgbClr val="D8E2DE"/>
            </a:solidFill>
            <a:prstDash val="solid"/>
          </a:ln>
        </p:spPr>
      </p:sp>
      <p:sp>
        <p:nvSpPr>
          <p:cNvPr id="14" name="Text 12"/>
          <p:cNvSpPr txBox="1"/>
          <p:nvPr/>
        </p:nvSpPr>
        <p:spPr>
          <a:xfrm>
            <a:off x="804672" y="4041648"/>
            <a:ext cx="4206240" cy="274320"/>
          </a:xfrm>
          <a:prstGeom prst="rect">
            <a:avLst/>
          </a:prstGeom>
          <a:noFill/>
          <a:ln/>
        </p:spPr>
        <p:txBody>
          <a:bodyPr wrap="square" lIns="0" tIns="0" rIns="0" bIns="0" rtlCol="0" anchor="ctr"/>
          <a:lstStyle/>
          <a:p>
            <a:pPr indent="0" marL="0">
              <a:buNone/>
            </a:pPr>
            <a:r>
              <a:rPr lang="en-US" sz="1250" b="1" dirty="0">
                <a:solidFill>
                  <a:srgbClr val="0B3D2E"/>
                </a:solidFill>
                <a:latin typeface="Cambria" pitchFamily="34" charset="0"/>
                <a:ea typeface="Cambria" pitchFamily="34" charset="-122"/>
                <a:cs typeface="Cambria" pitchFamily="34" charset="-120"/>
              </a:rPr>
              <a:t>The library is shared</a:t>
            </a:r>
            <a:endParaRPr lang="en-US" sz="1250" dirty="0"/>
          </a:p>
        </p:txBody>
      </p:sp>
      <p:sp>
        <p:nvSpPr>
          <p:cNvPr id="15" name="Text 13"/>
          <p:cNvSpPr txBox="1"/>
          <p:nvPr/>
        </p:nvSpPr>
        <p:spPr>
          <a:xfrm>
            <a:off x="5093208" y="4023360"/>
            <a:ext cx="2606040" cy="640080"/>
          </a:xfrm>
          <a:prstGeom prst="rect">
            <a:avLst/>
          </a:prstGeom>
          <a:noFill/>
          <a:ln/>
        </p:spPr>
        <p:txBody>
          <a:bodyPr wrap="square" lIns="0" tIns="0" rIns="0" bIns="0" rtlCol="0" anchor="t"/>
          <a:lstStyle/>
          <a:p>
            <a:pPr indent="0" marL="0">
              <a:lnSpc>
                <a:spcPts val="1320"/>
              </a:lnSpc>
              <a:buNone/>
            </a:pPr>
            <a:r>
              <a:rPr lang="en-US" sz="1000" dirty="0">
                <a:solidFill>
                  <a:srgbClr val="5D6F68"/>
                </a:solidFill>
                <a:latin typeface="Calibri" pitchFamily="34" charset="0"/>
                <a:ea typeface="Calibri" pitchFamily="34" charset="-122"/>
                <a:cs typeface="Calibri" pitchFamily="34" charset="-120"/>
              </a:rPr>
              <a:t>Every hospital draws on the same reviewed clips, so the second hospital costs almost nothing to serve.</a:t>
            </a:r>
            <a:endParaRPr lang="en-US" sz="1000" dirty="0"/>
          </a:p>
        </p:txBody>
      </p:sp>
      <p:sp>
        <p:nvSpPr>
          <p:cNvPr id="16" name="Shape 14"/>
          <p:cNvSpPr/>
          <p:nvPr/>
        </p:nvSpPr>
        <p:spPr>
          <a:xfrm>
            <a:off x="566928" y="4864608"/>
            <a:ext cx="7223760" cy="841248"/>
          </a:xfrm>
          <a:prstGeom prst="roundRect">
            <a:avLst>
              <a:gd name="adj" fmla="val 8696"/>
            </a:avLst>
          </a:prstGeom>
          <a:solidFill>
            <a:srgbClr val="F4F8F6"/>
          </a:solidFill>
          <a:ln w="12700">
            <a:solidFill>
              <a:srgbClr val="D8E2DE"/>
            </a:solidFill>
            <a:prstDash val="solid"/>
          </a:ln>
        </p:spPr>
      </p:sp>
      <p:sp>
        <p:nvSpPr>
          <p:cNvPr id="17" name="Text 15"/>
          <p:cNvSpPr txBox="1"/>
          <p:nvPr/>
        </p:nvSpPr>
        <p:spPr>
          <a:xfrm>
            <a:off x="804672" y="4992624"/>
            <a:ext cx="4206240" cy="274320"/>
          </a:xfrm>
          <a:prstGeom prst="rect">
            <a:avLst/>
          </a:prstGeom>
          <a:noFill/>
          <a:ln/>
        </p:spPr>
        <p:txBody>
          <a:bodyPr wrap="square" lIns="0" tIns="0" rIns="0" bIns="0" rtlCol="0" anchor="ctr"/>
          <a:lstStyle/>
          <a:p>
            <a:pPr indent="0" marL="0">
              <a:buNone/>
            </a:pPr>
            <a:r>
              <a:rPr lang="en-US" sz="1250" b="1" dirty="0">
                <a:solidFill>
                  <a:srgbClr val="0B3D2E"/>
                </a:solidFill>
                <a:latin typeface="Cambria" pitchFamily="34" charset="0"/>
                <a:ea typeface="Cambria" pitchFamily="34" charset="-122"/>
                <a:cs typeface="Cambria" pitchFamily="34" charset="-120"/>
              </a:rPr>
              <a:t>It degrades honestly</a:t>
            </a:r>
            <a:endParaRPr lang="en-US" sz="1250" dirty="0"/>
          </a:p>
        </p:txBody>
      </p:sp>
      <p:sp>
        <p:nvSpPr>
          <p:cNvPr id="18" name="Text 16"/>
          <p:cNvSpPr txBox="1"/>
          <p:nvPr/>
        </p:nvSpPr>
        <p:spPr>
          <a:xfrm>
            <a:off x="5093208" y="4974336"/>
            <a:ext cx="2606040" cy="640080"/>
          </a:xfrm>
          <a:prstGeom prst="rect">
            <a:avLst/>
          </a:prstGeom>
          <a:noFill/>
          <a:ln/>
        </p:spPr>
        <p:txBody>
          <a:bodyPr wrap="square" lIns="0" tIns="0" rIns="0" bIns="0" rtlCol="0" anchor="t"/>
          <a:lstStyle/>
          <a:p>
            <a:pPr indent="0" marL="0">
              <a:lnSpc>
                <a:spcPts val="1320"/>
              </a:lnSpc>
              <a:buNone/>
            </a:pPr>
            <a:r>
              <a:rPr lang="en-US" sz="1000" dirty="0">
                <a:solidFill>
                  <a:srgbClr val="5D6F68"/>
                </a:solidFill>
                <a:latin typeface="Calibri" pitchFamily="34" charset="0"/>
                <a:ea typeface="Calibri" pitchFamily="34" charset="-122"/>
                <a:cs typeface="Calibri" pitchFamily="34" charset="-120"/>
              </a:rPr>
              <a:t>Where it cannot help, it says so. Staff learn quickly what it is for, which is how a tool survives past week one.</a:t>
            </a:r>
            <a:endParaRPr lang="en-US" sz="1000" dirty="0"/>
          </a:p>
        </p:txBody>
      </p:sp>
      <p:sp>
        <p:nvSpPr>
          <p:cNvPr id="19" name="Shape 17"/>
          <p:cNvSpPr/>
          <p:nvPr/>
        </p:nvSpPr>
        <p:spPr>
          <a:xfrm>
            <a:off x="8138160" y="2011680"/>
            <a:ext cx="3483864" cy="3621024"/>
          </a:xfrm>
          <a:prstGeom prst="roundRect">
            <a:avLst>
              <a:gd name="adj" fmla="val 2100"/>
            </a:avLst>
          </a:prstGeom>
          <a:solidFill>
            <a:srgbClr val="FDF6E7"/>
          </a:solidFill>
          <a:ln w="12700">
            <a:solidFill>
              <a:srgbClr val="EBD9B4"/>
            </a:solidFill>
            <a:prstDash val="solid"/>
          </a:ln>
        </p:spPr>
      </p:sp>
      <p:sp>
        <p:nvSpPr>
          <p:cNvPr id="20" name="Text 18"/>
          <p:cNvSpPr txBox="1"/>
          <p:nvPr/>
        </p:nvSpPr>
        <p:spPr>
          <a:xfrm>
            <a:off x="8375904" y="2240280"/>
            <a:ext cx="3017520" cy="274320"/>
          </a:xfrm>
          <a:prstGeom prst="rect">
            <a:avLst/>
          </a:prstGeom>
          <a:noFill/>
          <a:ln/>
        </p:spPr>
        <p:txBody>
          <a:bodyPr wrap="square" lIns="0" tIns="0" rIns="0" bIns="0" rtlCol="0" anchor="ctr"/>
          <a:lstStyle/>
          <a:p>
            <a:pPr indent="0" marL="0">
              <a:buNone/>
            </a:pPr>
            <a:r>
              <a:rPr lang="en-US" sz="1500" b="1" dirty="0">
                <a:solidFill>
                  <a:srgbClr val="B26A00"/>
                </a:solidFill>
                <a:latin typeface="Cambria" pitchFamily="34" charset="0"/>
                <a:ea typeface="Cambria" pitchFamily="34" charset="-122"/>
                <a:cs typeface="Cambria" pitchFamily="34" charset="-120"/>
              </a:rPr>
              <a:t>Before a real ward</a:t>
            </a:r>
            <a:endParaRPr lang="en-US" sz="1500" dirty="0"/>
          </a:p>
        </p:txBody>
      </p:sp>
      <p:sp>
        <p:nvSpPr>
          <p:cNvPr id="21" name="Text 19"/>
          <p:cNvSpPr txBox="1"/>
          <p:nvPr/>
        </p:nvSpPr>
        <p:spPr>
          <a:xfrm>
            <a:off x="8375904" y="2670048"/>
            <a:ext cx="3017520" cy="23774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5D6F68"/>
                </a:solidFill>
                <a:latin typeface="Calibri" pitchFamily="34" charset="0"/>
                <a:ea typeface="Calibri" pitchFamily="34" charset="-122"/>
                <a:cs typeface="Calibri" pitchFamily="34" charset="-120"/>
              </a:rPr>
              <a:t>Clinical sign-off on the library</a:t>
            </a:r>
            <a:endParaRPr lang="en-US" sz="1150" dirty="0"/>
          </a:p>
          <a:p>
            <a:pPr marL="342900" indent="-342900">
              <a:spcAft>
                <a:spcPts val="600"/>
              </a:spcAft>
              <a:buSzPct val="100000"/>
              <a:buChar char="•"/>
            </a:pPr>
            <a:r>
              <a:rPr lang="en-US" sz="1150" dirty="0">
                <a:solidFill>
                  <a:srgbClr val="5D6F68"/>
                </a:solidFill>
                <a:latin typeface="Calibri" pitchFamily="34" charset="0"/>
                <a:ea typeface="Calibri" pitchFamily="34" charset="-122"/>
                <a:cs typeface="Calibri" pitchFamily="34" charset="-120"/>
              </a:rPr>
              <a:t>The rest of the alphabet filmed</a:t>
            </a:r>
            <a:endParaRPr lang="en-US" sz="1150" dirty="0"/>
          </a:p>
          <a:p>
            <a:pPr marL="342900" indent="-342900">
              <a:spcAft>
                <a:spcPts val="600"/>
              </a:spcAft>
              <a:buSzPct val="100000"/>
              <a:buChar char="•"/>
            </a:pPr>
            <a:r>
              <a:rPr lang="en-US" sz="1150" dirty="0">
                <a:solidFill>
                  <a:srgbClr val="5D6F68"/>
                </a:solidFill>
                <a:latin typeface="Calibri" pitchFamily="34" charset="0"/>
                <a:ea typeface="Calibri" pitchFamily="34" charset="-122"/>
                <a:cs typeface="Calibri" pitchFamily="34" charset="-120"/>
              </a:rPr>
              <a:t>The 16 body-part signs filmed</a:t>
            </a:r>
            <a:endParaRPr lang="en-US" sz="1150" dirty="0"/>
          </a:p>
          <a:p>
            <a:pPr marL="342900" indent="-342900">
              <a:spcAft>
                <a:spcPts val="600"/>
              </a:spcAft>
              <a:buSzPct val="100000"/>
              <a:buChar char="•"/>
            </a:pPr>
            <a:r>
              <a:rPr lang="en-US" sz="1150" dirty="0">
                <a:solidFill>
                  <a:srgbClr val="5D6F68"/>
                </a:solidFill>
                <a:latin typeface="Calibri" pitchFamily="34" charset="0"/>
                <a:ea typeface="Calibri" pitchFamily="34" charset="-122"/>
                <a:cs typeface="Calibri" pitchFamily="34" charset="-120"/>
              </a:rPr>
              <a:t>A TURN server for closed networks</a:t>
            </a:r>
            <a:endParaRPr lang="en-US" sz="1150" dirty="0"/>
          </a:p>
        </p:txBody>
      </p:sp>
      <p:sp>
        <p:nvSpPr>
          <p:cNvPr id="22" name="Shape 20"/>
          <p:cNvSpPr/>
          <p:nvPr/>
        </p:nvSpPr>
        <p:spPr>
          <a:xfrm>
            <a:off x="8375904" y="5212080"/>
            <a:ext cx="1170432" cy="256032"/>
          </a:xfrm>
          <a:prstGeom prst="roundRect">
            <a:avLst>
              <a:gd name="adj" fmla="val 50000"/>
            </a:avLst>
          </a:prstGeom>
          <a:solidFill>
            <a:srgbClr val="B26A00"/>
          </a:solidFill>
          <a:ln/>
        </p:spPr>
      </p:sp>
      <p:sp>
        <p:nvSpPr>
          <p:cNvPr id="23" name="Text 21"/>
          <p:cNvSpPr txBox="1"/>
          <p:nvPr/>
        </p:nvSpPr>
        <p:spPr>
          <a:xfrm>
            <a:off x="8375904" y="5212080"/>
            <a:ext cx="1170432" cy="256032"/>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PLANNED</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200" kern="0" dirty="0">
                <a:solidFill>
                  <a:srgbClr val="0A4A3A"/>
                </a:solidFill>
                <a:latin typeface="Calibri" pitchFamily="34" charset="0"/>
                <a:ea typeface="Calibri" pitchFamily="34" charset="-122"/>
                <a:cs typeface="Calibri" pitchFamily="34" charset="-120"/>
              </a:rPr>
              <a:t>ASSESSMENT · 10 POINTS</a:t>
            </a:r>
            <a:endParaRPr lang="en-US" sz="1100" dirty="0"/>
          </a:p>
        </p:txBody>
      </p:sp>
      <p:sp>
        <p:nvSpPr>
          <p:cNvPr id="3" name="Text 1"/>
          <p:cNvSpPr txBox="1"/>
          <p:nvPr/>
        </p:nvSpPr>
        <p:spPr>
          <a:xfrm>
            <a:off x="566928" y="640080"/>
            <a:ext cx="11057839" cy="658368"/>
          </a:xfrm>
          <a:prstGeom prst="rect">
            <a:avLst/>
          </a:prstGeom>
          <a:noFill/>
          <a:ln/>
        </p:spPr>
        <p:txBody>
          <a:bodyPr wrap="square" lIns="0" tIns="0" rIns="0" bIns="0" rtlCol="0" anchor="ctr"/>
          <a:lstStyle/>
          <a:p>
            <a:pPr indent="0" marL="0">
              <a:buNone/>
            </a:pPr>
            <a:r>
              <a:rPr lang="en-US" sz="3400" b="1" dirty="0">
                <a:solidFill>
                  <a:srgbClr val="0F1F1A"/>
                </a:solidFill>
                <a:latin typeface="Cambria" pitchFamily="34" charset="0"/>
                <a:ea typeface="Cambria" pitchFamily="34" charset="-122"/>
                <a:cs typeface="Cambria" pitchFamily="34" charset="-120"/>
              </a:rPr>
              <a:t>Where you can use it, right now</a:t>
            </a:r>
            <a:endParaRPr lang="en-US" sz="3400" dirty="0"/>
          </a:p>
        </p:txBody>
      </p:sp>
      <p:sp>
        <p:nvSpPr>
          <p:cNvPr id="4" name="Text 2"/>
          <p:cNvSpPr txBox="1"/>
          <p:nvPr/>
        </p:nvSpPr>
        <p:spPr>
          <a:xfrm>
            <a:off x="566928" y="1335024"/>
            <a:ext cx="9960559" cy="384048"/>
          </a:xfrm>
          <a:prstGeom prst="rect">
            <a:avLst/>
          </a:prstGeom>
          <a:noFill/>
          <a:ln/>
        </p:spPr>
        <p:txBody>
          <a:bodyPr wrap="square" lIns="0" tIns="0" rIns="0" bIns="0" rtlCol="0" anchor="ctr"/>
          <a:lstStyle/>
          <a:p>
            <a:pPr indent="0" marL="0">
              <a:buNone/>
            </a:pPr>
            <a:r>
              <a:rPr lang="en-US" sz="1400" dirty="0">
                <a:solidFill>
                  <a:srgbClr val="5D6F68"/>
                </a:solidFill>
                <a:latin typeface="Calibri" pitchFamily="34" charset="0"/>
                <a:ea typeface="Calibri" pitchFamily="34" charset="-122"/>
                <a:cs typeface="Calibri" pitchFamily="34" charset="-120"/>
              </a:rPr>
              <a:t>Open it on your own phone while we are still standing here.</a:t>
            </a:r>
            <a:endParaRPr lang="en-US" sz="1400" dirty="0"/>
          </a:p>
        </p:txBody>
      </p:sp>
      <p:sp>
        <p:nvSpPr>
          <p:cNvPr id="5" name="Text 3"/>
          <p:cNvSpPr txBox="1"/>
          <p:nvPr/>
        </p:nvSpPr>
        <p:spPr>
          <a:xfrm>
            <a:off x="566928" y="6382512"/>
            <a:ext cx="3657600" cy="237744"/>
          </a:xfrm>
          <a:prstGeom prst="rect">
            <a:avLst/>
          </a:prstGeom>
          <a:noFill/>
          <a:ln/>
        </p:spPr>
        <p:txBody>
          <a:bodyPr wrap="square" lIns="0" tIns="0" rIns="0" bIns="0" rtlCol="0" anchor="ctr"/>
          <a:lstStyle/>
          <a:p>
            <a:pPr indent="0" marL="0">
              <a:buNone/>
            </a:pPr>
            <a:r>
              <a:rPr lang="en-US" sz="950" dirty="0">
                <a:solidFill>
                  <a:srgbClr val="5D6F68"/>
                </a:solidFill>
                <a:latin typeface="Calibri" pitchFamily="34" charset="0"/>
                <a:ea typeface="Calibri" pitchFamily="34" charset="-122"/>
                <a:cs typeface="Calibri" pitchFamily="34" charset="-120"/>
              </a:rPr>
              <a:t>Tie Me Ghana</a:t>
            </a:r>
            <a:endParaRPr lang="en-US" sz="950" dirty="0"/>
          </a:p>
        </p:txBody>
      </p:sp>
      <p:sp>
        <p:nvSpPr>
          <p:cNvPr id="6" name="Text 4"/>
          <p:cNvSpPr txBox="1"/>
          <p:nvPr/>
        </p:nvSpPr>
        <p:spPr>
          <a:xfrm>
            <a:off x="10710367" y="6382512"/>
            <a:ext cx="914400" cy="237744"/>
          </a:xfrm>
          <a:prstGeom prst="rect">
            <a:avLst/>
          </a:prstGeom>
          <a:noFill/>
          <a:ln/>
        </p:spPr>
        <p:txBody>
          <a:bodyPr wrap="square" lIns="0" tIns="0" rIns="0" bIns="0" rtlCol="0" anchor="ctr"/>
          <a:lstStyle/>
          <a:p>
            <a:pPr algn="r" indent="0" marL="0">
              <a:buNone/>
            </a:pPr>
            <a:r>
              <a:rPr lang="en-US" sz="950" dirty="0">
                <a:solidFill>
                  <a:srgbClr val="5D6F68"/>
                </a:solidFill>
                <a:latin typeface="Calibri" pitchFamily="34" charset="0"/>
                <a:ea typeface="Calibri" pitchFamily="34" charset="-122"/>
                <a:cs typeface="Calibri" pitchFamily="34" charset="-120"/>
              </a:rPr>
              <a:t>13</a:t>
            </a:r>
            <a:endParaRPr lang="en-US" sz="950" dirty="0"/>
          </a:p>
        </p:txBody>
      </p:sp>
      <p:sp>
        <p:nvSpPr>
          <p:cNvPr id="7" name="Shape 5"/>
          <p:cNvSpPr/>
          <p:nvPr/>
        </p:nvSpPr>
        <p:spPr>
          <a:xfrm>
            <a:off x="566928" y="2103120"/>
            <a:ext cx="7680960" cy="1042416"/>
          </a:xfrm>
          <a:prstGeom prst="roundRect">
            <a:avLst>
              <a:gd name="adj" fmla="val 7018"/>
            </a:avLst>
          </a:prstGeom>
          <a:solidFill>
            <a:srgbClr val="F4F8F6"/>
          </a:solidFill>
          <a:ln w="12700">
            <a:solidFill>
              <a:srgbClr val="D8E2DE"/>
            </a:solidFill>
            <a:prstDash val="solid"/>
          </a:ln>
        </p:spPr>
      </p:sp>
      <p:sp>
        <p:nvSpPr>
          <p:cNvPr id="8" name="Text 6"/>
          <p:cNvSpPr txBox="1"/>
          <p:nvPr/>
        </p:nvSpPr>
        <p:spPr>
          <a:xfrm>
            <a:off x="841248" y="2432304"/>
            <a:ext cx="2011680" cy="384048"/>
          </a:xfrm>
          <a:prstGeom prst="rect">
            <a:avLst/>
          </a:prstGeom>
          <a:noFill/>
          <a:ln/>
        </p:spPr>
        <p:txBody>
          <a:bodyPr wrap="square" lIns="0" tIns="0" rIns="0" bIns="0" rtlCol="0" anchor="ctr"/>
          <a:lstStyle/>
          <a:p>
            <a:pPr indent="0" marL="0">
              <a:buNone/>
            </a:pPr>
            <a:r>
              <a:rPr lang="en-US" sz="1300" b="1" dirty="0">
                <a:solidFill>
                  <a:srgbClr val="5D6F68"/>
                </a:solidFill>
                <a:latin typeface="Calibri" pitchFamily="34" charset="0"/>
                <a:ea typeface="Calibri" pitchFamily="34" charset="-122"/>
                <a:cs typeface="Calibri" pitchFamily="34" charset="-120"/>
              </a:rPr>
              <a:t>Doctor or nurse</a:t>
            </a:r>
            <a:endParaRPr lang="en-US" sz="1300" dirty="0"/>
          </a:p>
        </p:txBody>
      </p:sp>
      <p:sp>
        <p:nvSpPr>
          <p:cNvPr id="9" name="Text 7"/>
          <p:cNvSpPr txBox="1"/>
          <p:nvPr/>
        </p:nvSpPr>
        <p:spPr>
          <a:xfrm>
            <a:off x="2852928" y="2395728"/>
            <a:ext cx="5212080" cy="457200"/>
          </a:xfrm>
          <a:prstGeom prst="rect">
            <a:avLst/>
          </a:prstGeom>
          <a:noFill/>
          <a:ln/>
        </p:spPr>
        <p:txBody>
          <a:bodyPr wrap="square" lIns="0" tIns="0" rIns="0" bIns="0" rtlCol="0" anchor="ctr"/>
          <a:lstStyle/>
          <a:p>
            <a:pPr indent="0" marL="0">
              <a:buNone/>
            </a:pPr>
            <a:r>
              <a:rPr lang="en-US" sz="1800" b="1" dirty="0">
                <a:solidFill>
                  <a:srgbClr val="0B3D2E"/>
                </a:solidFill>
                <a:latin typeface="Calibri" pitchFamily="34" charset="0"/>
                <a:ea typeface="Calibri" pitchFamily="34" charset="-122"/>
                <a:cs typeface="Calibri" pitchFamily="34" charset="-120"/>
              </a:rPr>
              <a:t>tiemeghana.netlify.app</a:t>
            </a:r>
            <a:endParaRPr lang="en-US" sz="1800" dirty="0"/>
          </a:p>
        </p:txBody>
      </p:sp>
      <p:sp>
        <p:nvSpPr>
          <p:cNvPr id="10" name="Shape 8"/>
          <p:cNvSpPr/>
          <p:nvPr/>
        </p:nvSpPr>
        <p:spPr>
          <a:xfrm>
            <a:off x="566928" y="3328416"/>
            <a:ext cx="7680960" cy="1042416"/>
          </a:xfrm>
          <a:prstGeom prst="roundRect">
            <a:avLst>
              <a:gd name="adj" fmla="val 7018"/>
            </a:avLst>
          </a:prstGeom>
          <a:solidFill>
            <a:srgbClr val="F4F8F6"/>
          </a:solidFill>
          <a:ln w="12700">
            <a:solidFill>
              <a:srgbClr val="D8E2DE"/>
            </a:solidFill>
            <a:prstDash val="solid"/>
          </a:ln>
        </p:spPr>
      </p:sp>
      <p:sp>
        <p:nvSpPr>
          <p:cNvPr id="11" name="Text 9"/>
          <p:cNvSpPr txBox="1"/>
          <p:nvPr/>
        </p:nvSpPr>
        <p:spPr>
          <a:xfrm>
            <a:off x="841248" y="3657600"/>
            <a:ext cx="2011680" cy="384048"/>
          </a:xfrm>
          <a:prstGeom prst="rect">
            <a:avLst/>
          </a:prstGeom>
          <a:noFill/>
          <a:ln/>
        </p:spPr>
        <p:txBody>
          <a:bodyPr wrap="square" lIns="0" tIns="0" rIns="0" bIns="0" rtlCol="0" anchor="ctr"/>
          <a:lstStyle/>
          <a:p>
            <a:pPr indent="0" marL="0">
              <a:buNone/>
            </a:pPr>
            <a:r>
              <a:rPr lang="en-US" sz="1300" b="1" dirty="0">
                <a:solidFill>
                  <a:srgbClr val="5D6F68"/>
                </a:solidFill>
                <a:latin typeface="Calibri" pitchFamily="34" charset="0"/>
                <a:ea typeface="Calibri" pitchFamily="34" charset="-122"/>
                <a:cs typeface="Calibri" pitchFamily="34" charset="-120"/>
              </a:rPr>
              <a:t>Patient</a:t>
            </a:r>
            <a:endParaRPr lang="en-US" sz="1300" dirty="0"/>
          </a:p>
        </p:txBody>
      </p:sp>
      <p:sp>
        <p:nvSpPr>
          <p:cNvPr id="12" name="Text 10"/>
          <p:cNvSpPr txBox="1"/>
          <p:nvPr/>
        </p:nvSpPr>
        <p:spPr>
          <a:xfrm>
            <a:off x="2852928" y="3621024"/>
            <a:ext cx="5212080" cy="457200"/>
          </a:xfrm>
          <a:prstGeom prst="rect">
            <a:avLst/>
          </a:prstGeom>
          <a:noFill/>
          <a:ln/>
        </p:spPr>
        <p:txBody>
          <a:bodyPr wrap="square" lIns="0" tIns="0" rIns="0" bIns="0" rtlCol="0" anchor="ctr"/>
          <a:lstStyle/>
          <a:p>
            <a:pPr indent="0" marL="0">
              <a:buNone/>
            </a:pPr>
            <a:r>
              <a:rPr lang="en-US" sz="1800" b="1" dirty="0">
                <a:solidFill>
                  <a:srgbClr val="0B3D2E"/>
                </a:solidFill>
                <a:latin typeface="Calibri" pitchFamily="34" charset="0"/>
                <a:ea typeface="Calibri" pitchFamily="34" charset="-122"/>
                <a:cs typeface="Calibri" pitchFamily="34" charset="-120"/>
              </a:rPr>
              <a:t>tiemeghana.netlify.app/join</a:t>
            </a:r>
            <a:endParaRPr lang="en-US" sz="1800" dirty="0"/>
          </a:p>
        </p:txBody>
      </p:sp>
      <p:sp>
        <p:nvSpPr>
          <p:cNvPr id="13" name="Shape 11"/>
          <p:cNvSpPr/>
          <p:nvPr/>
        </p:nvSpPr>
        <p:spPr>
          <a:xfrm>
            <a:off x="8549640" y="2103120"/>
            <a:ext cx="3072384" cy="2267712"/>
          </a:xfrm>
          <a:prstGeom prst="roundRect">
            <a:avLst>
              <a:gd name="adj" fmla="val 3226"/>
            </a:avLst>
          </a:prstGeom>
          <a:solidFill>
            <a:srgbClr val="F4F8F6"/>
          </a:solidFill>
          <a:ln w="12700">
            <a:solidFill>
              <a:srgbClr val="D8E2DE"/>
            </a:solidFill>
            <a:prstDash val="solid"/>
          </a:ln>
        </p:spPr>
      </p:sp>
      <p:sp>
        <p:nvSpPr>
          <p:cNvPr id="14" name="Text 12"/>
          <p:cNvSpPr txBox="1"/>
          <p:nvPr/>
        </p:nvSpPr>
        <p:spPr>
          <a:xfrm>
            <a:off x="8787384" y="2340864"/>
            <a:ext cx="2651760" cy="274320"/>
          </a:xfrm>
          <a:prstGeom prst="rect">
            <a:avLst/>
          </a:prstGeom>
          <a:noFill/>
          <a:ln/>
        </p:spPr>
        <p:txBody>
          <a:bodyPr wrap="square" lIns="0" tIns="0" rIns="0" bIns="0" rtlCol="0" anchor="ctr"/>
          <a:lstStyle/>
          <a:p>
            <a:pPr indent="0" marL="0">
              <a:buNone/>
            </a:pPr>
            <a:r>
              <a:rPr lang="en-US" sz="1500" b="1" dirty="0">
                <a:solidFill>
                  <a:srgbClr val="0B3D2E"/>
                </a:solidFill>
                <a:latin typeface="Cambria" pitchFamily="34" charset="0"/>
                <a:ea typeface="Cambria" pitchFamily="34" charset="-122"/>
                <a:cs typeface="Cambria" pitchFamily="34" charset="-120"/>
              </a:rPr>
              <a:t>No second phone?</a:t>
            </a:r>
            <a:endParaRPr lang="en-US" sz="1500" dirty="0"/>
          </a:p>
        </p:txBody>
      </p:sp>
      <p:sp>
        <p:nvSpPr>
          <p:cNvPr id="15" name="Text 13"/>
          <p:cNvSpPr txBox="1"/>
          <p:nvPr/>
        </p:nvSpPr>
        <p:spPr>
          <a:xfrm>
            <a:off x="8787384" y="2706624"/>
            <a:ext cx="2596896" cy="1463040"/>
          </a:xfrm>
          <a:prstGeom prst="rect">
            <a:avLst/>
          </a:prstGeom>
          <a:noFill/>
          <a:ln/>
        </p:spPr>
        <p:txBody>
          <a:bodyPr wrap="square" lIns="0" tIns="0" rIns="0" bIns="0" rtlCol="0" anchor="t"/>
          <a:lstStyle/>
          <a:p>
            <a:pPr indent="0" marL="0">
              <a:lnSpc>
                <a:spcPts val="1452"/>
              </a:lnSpc>
              <a:buNone/>
            </a:pPr>
            <a:r>
              <a:rPr lang="en-US" sz="1100" dirty="0">
                <a:solidFill>
                  <a:srgbClr val="5D6F68"/>
                </a:solidFill>
                <a:latin typeface="Calibri" pitchFamily="34" charset="0"/>
                <a:ea typeface="Calibri" pitchFamily="34" charset="-122"/>
                <a:cs typeface="Calibri" pitchFamily="34" charset="-120"/>
              </a:rPr>
              <a:t>Open the first link and choose “No, share this device”. The whole visit runs on one screen.</a:t>
            </a:r>
            <a:endParaRPr lang="en-US" sz="1100" dirty="0"/>
          </a:p>
        </p:txBody>
      </p:sp>
      <p:sp>
        <p:nvSpPr>
          <p:cNvPr id="16" name="Text 14"/>
          <p:cNvSpPr txBox="1"/>
          <p:nvPr/>
        </p:nvSpPr>
        <p:spPr>
          <a:xfrm>
            <a:off x="566928" y="4754880"/>
            <a:ext cx="7680960" cy="1280160"/>
          </a:xfrm>
          <a:prstGeom prst="rect">
            <a:avLst/>
          </a:prstGeom>
          <a:noFill/>
          <a:ln/>
        </p:spPr>
        <p:txBody>
          <a:bodyPr wrap="square" lIns="0" tIns="0" rIns="0" bIns="0" rtlCol="0" anchor="t"/>
          <a:lstStyle/>
          <a:p>
            <a:pPr indent="0" marL="0">
              <a:lnSpc>
                <a:spcPts val="1650"/>
              </a:lnSpc>
              <a:buNone/>
            </a:pPr>
            <a:r>
              <a:rPr lang="en-US" sz="1250" dirty="0">
                <a:solidFill>
                  <a:srgbClr val="0F1F1A"/>
                </a:solidFill>
                <a:latin typeface="Calibri" pitchFamily="34" charset="0"/>
                <a:ea typeface="Calibri" pitchFamily="34" charset="-122"/>
                <a:cs typeface="Calibri" pitchFamily="34" charset="-120"/>
              </a:rPr>
              <a:t>It is a web site, so it opens in Chrome, in Safari, in any browser, on a phone, a tablet or a laptop. Nothing to download and no app store. Open it once and tap “Add to Home Screen” and it behaves like an installed app, with the sign videos kept on the device.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3D2E"/>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37744"/>
          </a:xfrm>
          <a:prstGeom prst="rect">
            <a:avLst/>
          </a:prstGeom>
          <a:noFill/>
          <a:ln/>
        </p:spPr>
        <p:txBody>
          <a:bodyPr wrap="square" lIns="0" tIns="0" rIns="0" bIns="0" rtlCol="0" anchor="ctr"/>
          <a:lstStyle/>
          <a:p>
            <a:pPr indent="0" marL="0">
              <a:buNone/>
            </a:pPr>
            <a:r>
              <a:rPr lang="en-US" sz="1100" b="1" spc="200" kern="0" dirty="0">
                <a:solidFill>
                  <a:srgbClr val="7FD8B8"/>
                </a:solidFill>
                <a:latin typeface="Calibri" pitchFamily="34" charset="0"/>
                <a:ea typeface="Calibri" pitchFamily="34" charset="-122"/>
                <a:cs typeface="Calibri" pitchFamily="34" charset="-120"/>
              </a:rPr>
              <a:t>IN ONE SENTENCE</a:t>
            </a:r>
            <a:endParaRPr lang="en-US" sz="1100" dirty="0"/>
          </a:p>
        </p:txBody>
      </p:sp>
      <p:sp>
        <p:nvSpPr>
          <p:cNvPr id="3" name="Text 1"/>
          <p:cNvSpPr txBox="1"/>
          <p:nvPr/>
        </p:nvSpPr>
        <p:spPr>
          <a:xfrm>
            <a:off x="566928" y="6382512"/>
            <a:ext cx="3657600" cy="237744"/>
          </a:xfrm>
          <a:prstGeom prst="rect">
            <a:avLst/>
          </a:prstGeom>
          <a:noFill/>
          <a:ln/>
        </p:spPr>
        <p:txBody>
          <a:bodyPr wrap="square" lIns="0" tIns="0" rIns="0" bIns="0" rtlCol="0" anchor="ctr"/>
          <a:lstStyle/>
          <a:p>
            <a:pPr indent="0" marL="0">
              <a:buNone/>
            </a:pPr>
            <a:r>
              <a:rPr lang="en-US" sz="950" dirty="0">
                <a:solidFill>
                  <a:srgbClr val="7F9B91"/>
                </a:solidFill>
                <a:latin typeface="Calibri" pitchFamily="34" charset="0"/>
                <a:ea typeface="Calibri" pitchFamily="34" charset="-122"/>
                <a:cs typeface="Calibri" pitchFamily="34" charset="-120"/>
              </a:rPr>
              <a:t>Tie Me Ghana</a:t>
            </a:r>
            <a:endParaRPr lang="en-US" sz="950" dirty="0"/>
          </a:p>
        </p:txBody>
      </p:sp>
      <p:sp>
        <p:nvSpPr>
          <p:cNvPr id="4" name="Text 2"/>
          <p:cNvSpPr txBox="1"/>
          <p:nvPr/>
        </p:nvSpPr>
        <p:spPr>
          <a:xfrm>
            <a:off x="10710367" y="6382512"/>
            <a:ext cx="914400" cy="237744"/>
          </a:xfrm>
          <a:prstGeom prst="rect">
            <a:avLst/>
          </a:prstGeom>
          <a:noFill/>
          <a:ln/>
        </p:spPr>
        <p:txBody>
          <a:bodyPr wrap="square" lIns="0" tIns="0" rIns="0" bIns="0" rtlCol="0" anchor="ctr"/>
          <a:lstStyle/>
          <a:p>
            <a:pPr algn="r" indent="0" marL="0">
              <a:buNone/>
            </a:pPr>
            <a:r>
              <a:rPr lang="en-US" sz="950" dirty="0">
                <a:solidFill>
                  <a:srgbClr val="7F9B91"/>
                </a:solidFill>
                <a:latin typeface="Calibri" pitchFamily="34" charset="0"/>
                <a:ea typeface="Calibri" pitchFamily="34" charset="-122"/>
                <a:cs typeface="Calibri" pitchFamily="34" charset="-120"/>
              </a:rPr>
              <a:t>14</a:t>
            </a:r>
            <a:endParaRPr lang="en-US" sz="950" dirty="0"/>
          </a:p>
        </p:txBody>
      </p:sp>
      <p:sp>
        <p:nvSpPr>
          <p:cNvPr id="5" name="Text 3"/>
          <p:cNvSpPr txBox="1"/>
          <p:nvPr/>
        </p:nvSpPr>
        <p:spPr>
          <a:xfrm>
            <a:off x="566928" y="2103120"/>
            <a:ext cx="10607040" cy="1280160"/>
          </a:xfrm>
          <a:prstGeom prst="rect">
            <a:avLst/>
          </a:prstGeom>
          <a:noFill/>
          <a:ln/>
        </p:spPr>
        <p:txBody>
          <a:bodyPr wrap="square" lIns="0" tIns="0" rIns="0" bIns="0" rtlCol="0" anchor="ctr"/>
          <a:lstStyle/>
          <a:p>
            <a:pPr indent="0" marL="0">
              <a:lnSpc>
                <a:spcPts val="4800"/>
              </a:lnSpc>
              <a:buNone/>
            </a:pPr>
            <a:r>
              <a:rPr lang="en-US" sz="4200" b="1" dirty="0">
                <a:solidFill>
                  <a:srgbClr val="FFFFFF"/>
                </a:solidFill>
                <a:latin typeface="Cambria" pitchFamily="34" charset="0"/>
                <a:ea typeface="Cambria" pitchFamily="34" charset="-122"/>
                <a:cs typeface="Cambria" pitchFamily="34" charset="-120"/>
              </a:rPr>
              <a:t>The server never learns what was said.</a:t>
            </a:r>
            <a:endParaRPr lang="en-US" sz="4200" dirty="0"/>
          </a:p>
        </p:txBody>
      </p:sp>
      <p:sp>
        <p:nvSpPr>
          <p:cNvPr id="6" name="Text 4"/>
          <p:cNvSpPr txBox="1"/>
          <p:nvPr/>
        </p:nvSpPr>
        <p:spPr>
          <a:xfrm>
            <a:off x="566928" y="3611880"/>
            <a:ext cx="9509760" cy="1737360"/>
          </a:xfrm>
          <a:prstGeom prst="rect">
            <a:avLst/>
          </a:prstGeom>
          <a:noFill/>
          <a:ln/>
        </p:spPr>
        <p:txBody>
          <a:bodyPr wrap="square" lIns="0" tIns="0" rIns="0" bIns="0" rtlCol="0" anchor="ctr"/>
          <a:lstStyle/>
          <a:p>
            <a:pPr indent="0" marL="0">
              <a:lnSpc>
                <a:spcPts val="2400"/>
              </a:lnSpc>
              <a:buNone/>
            </a:pPr>
            <a:r>
              <a:rPr lang="en-US" sz="1600" dirty="0">
                <a:solidFill>
                  <a:srgbClr val="CFE4DC"/>
                </a:solidFill>
                <a:latin typeface="Calibri" pitchFamily="34" charset="0"/>
                <a:ea typeface="Calibri" pitchFamily="34" charset="-122"/>
                <a:cs typeface="Calibri" pitchFamily="34" charset="-120"/>
              </a:rPr>
              <a:t>A deaf patient can say where the pain is. A doctor can be sure she understood the medicine. And nobody had to find an interpreter.</a:t>
            </a:r>
            <a:endParaRPr lang="en-US" sz="1600" dirty="0"/>
          </a:p>
          <a:p>
            <a:pPr indent="0" marL="0">
              <a:lnSpc>
                <a:spcPts val="2400"/>
              </a:lnSpc>
              <a:buNone/>
            </a:pPr>
            <a:endParaRPr lang="en-US" sz="1600" dirty="0"/>
          </a:p>
          <a:p>
            <a:pPr indent="0" marL="0">
              <a:lnSpc>
                <a:spcPts val="2400"/>
              </a:lnSpc>
              <a:buNone/>
            </a:pPr>
            <a:r>
              <a:rPr lang="en-US" sz="1600" dirty="0">
                <a:solidFill>
                  <a:srgbClr val="CFE4DC"/>
                </a:solidFill>
                <a:latin typeface="Calibri" pitchFamily="34" charset="0"/>
                <a:ea typeface="Calibri" pitchFamily="34" charset="-122"/>
                <a:cs typeface="Calibri" pitchFamily="34" charset="-120"/>
              </a:rPr>
              <a:t>It runs today, on the phones people already carry, in Ghanaian Sign Language filmed here. It is a pilot, it is not approved for clinical use yet, and we say so on every screen until it is.</a:t>
            </a:r>
            <a:endParaRPr lang="en-US" sz="1600" dirty="0"/>
          </a:p>
        </p:txBody>
      </p:sp>
      <p:sp>
        <p:nvSpPr>
          <p:cNvPr id="7" name="Text 5"/>
          <p:cNvSpPr txBox="1"/>
          <p:nvPr/>
        </p:nvSpPr>
        <p:spPr>
          <a:xfrm>
            <a:off x="566928" y="5687568"/>
            <a:ext cx="7315200" cy="402336"/>
          </a:xfrm>
          <a:prstGeom prst="rect">
            <a:avLst/>
          </a:prstGeom>
          <a:noFill/>
          <a:ln/>
        </p:spPr>
        <p:txBody>
          <a:bodyPr wrap="square" lIns="0" tIns="0" rIns="0" bIns="0" rtlCol="0" anchor="ctr"/>
          <a:lstStyle/>
          <a:p>
            <a:pPr indent="0" marL="0">
              <a:buNone/>
            </a:pPr>
            <a:r>
              <a:rPr lang="en-US" sz="1900" b="1" dirty="0">
                <a:solidFill>
                  <a:srgbClr val="7FD8B8"/>
                </a:solidFill>
                <a:latin typeface="Cambria" pitchFamily="34" charset="0"/>
                <a:ea typeface="Cambria" pitchFamily="34" charset="-122"/>
                <a:cs typeface="Cambria" pitchFamily="34" charset="-120"/>
              </a:rPr>
              <a:t>Thank you. Questions?</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Tie Me Ghana — Demo Day</dc:title>
  <dc:subject>PptxGenJS Presentation</dc:subject>
  <dc:creator>Tie Me Ghana</dc:creator>
  <cp:lastModifiedBy>Tie Me Ghana</cp:lastModifiedBy>
  <cp:revision>1</cp:revision>
  <dcterms:created xsi:type="dcterms:W3CDTF">2026-09-24T13:36:38Z</dcterms:created>
  <dcterms:modified xsi:type="dcterms:W3CDTF">2026-09-24T13:36:38Z</dcterms:modified>
</cp:coreProperties>
</file>